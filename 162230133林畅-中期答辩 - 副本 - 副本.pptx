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3"/>
  </p:sldMasterIdLst>
  <p:notesMasterIdLst>
    <p:notesMasterId r:id="rId5"/>
  </p:notesMasterIdLst>
  <p:sldIdLst>
    <p:sldId id="270" r:id="rId4"/>
    <p:sldId id="16603112" r:id="rId6"/>
    <p:sldId id="16603109" r:id="rId7"/>
    <p:sldId id="16603114" r:id="rId8"/>
    <p:sldId id="273" r:id="rId9"/>
    <p:sldId id="16603111" r:id="rId10"/>
    <p:sldId id="16603110" r:id="rId11"/>
    <p:sldId id="16603107" r:id="rId12"/>
    <p:sldId id="16603117" r:id="rId13"/>
    <p:sldId id="16603119" r:id="rId14"/>
    <p:sldId id="290" r:id="rId15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5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作" lastIdx="0" clrIdx="0"/>
  <p:cmAuthor id="2" name="WPS" initials="W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3778"/>
    <p:restoredTop sz="94660"/>
  </p:normalViewPr>
  <p:slideViewPr>
    <p:cSldViewPr snapToGrid="0" showGuides="1">
      <p:cViewPr varScale="1">
        <p:scale>
          <a:sx n="75" d="100"/>
          <a:sy n="75" d="100"/>
        </p:scale>
        <p:origin x="72" y="348"/>
      </p:cViewPr>
      <p:guideLst>
        <p:guide orient="horz" pos="2175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D2A48B96-639E-45A3-A0BA-2464DFDB1FAA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172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173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A6837353-30EB-4A48-80EB-173D804AEFBD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218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r>
              <a:rPr lang="zh-CN" altLang="en-US">
                <a:sym typeface="宋体" panose="02010600030101010101" pitchFamily="2" charset="-122"/>
              </a:rPr>
              <a:t>老师您好，我是南京航空航天大学的</a:t>
            </a:r>
            <a:r>
              <a:rPr lang="zh-CN" altLang="en-US">
                <a:sym typeface="宋体" panose="02010600030101010101" pitchFamily="2" charset="-122"/>
              </a:rPr>
              <a:t>林畅，我想给您介绍一下我的基本情况。</a:t>
            </a:r>
            <a:endParaRPr lang="zh-CN" altLang="en-US"/>
          </a:p>
        </p:txBody>
      </p:sp>
      <p:sp>
        <p:nvSpPr>
          <p:cNvPr id="921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>
                <a:latin typeface="Calibri" panose="020F050202020403020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ARINC 653 </a:t>
            </a:r>
            <a:r>
              <a:rPr lang="zh-CN" altLang="en-US"/>
              <a:t>是航空软件的强制标准，手工写分区初始化代码重复性高、容易出错。我的研究尝试用大语言模型来自动完成这项工作。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整个方法分三阶段。首先用我编写的 </a:t>
            </a:r>
            <a:r>
              <a:rPr lang="en-US" altLang="zh-CN"/>
              <a:t>aadl2c.py </a:t>
            </a:r>
            <a:r>
              <a:rPr lang="zh-CN" altLang="en-US"/>
              <a:t>解析器把 </a:t>
            </a:r>
            <a:r>
              <a:rPr lang="en-US" altLang="zh-CN"/>
              <a:t>AADL </a:t>
            </a:r>
            <a:r>
              <a:rPr lang="zh-CN" altLang="en-US"/>
              <a:t>模型转成结构化 </a:t>
            </a:r>
            <a:r>
              <a:rPr lang="en-US" altLang="zh-CN"/>
              <a:t>JSON；</a:t>
            </a:r>
            <a:r>
              <a:rPr lang="zh-CN" altLang="en-US"/>
              <a:t>然后用四种提示词策略构建提示，发给 </a:t>
            </a:r>
            <a:r>
              <a:rPr lang="en-US" altLang="zh-CN"/>
              <a:t>LLM；</a:t>
            </a:r>
            <a:r>
              <a:rPr lang="zh-CN" altLang="en-US"/>
              <a:t>最后对生成的代码进行评估。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4338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638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638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4338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1746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/>
          </a:p>
        </p:txBody>
      </p:sp>
      <p:sp>
        <p:nvSpPr>
          <p:cNvPr id="3174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>
                <a:latin typeface="Calibri" panose="020F050202020403020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 dirty="0"/>
              <a:t>单击此处编辑标题</a:t>
            </a:r>
            <a:endParaRPr lang="zh-CN" altLang="en-US" strike="noStrike" noProof="1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"/>
          <a:stretch>
            <a:fillRect/>
          </a:stretch>
        </p:blipFill>
        <p:spPr>
          <a:xfrm>
            <a:off x="-3" y="8926"/>
            <a:ext cx="12191996" cy="6840148"/>
          </a:xfrm>
          <a:custGeom>
            <a:avLst/>
            <a:gdLst>
              <a:gd name="connsiteX0" fmla="*/ 0 w 12191996"/>
              <a:gd name="connsiteY0" fmla="*/ 0 h 6840148"/>
              <a:gd name="connsiteX1" fmla="*/ 12191996 w 12191996"/>
              <a:gd name="connsiteY1" fmla="*/ 0 h 6840148"/>
              <a:gd name="connsiteX2" fmla="*/ 12191996 w 12191996"/>
              <a:gd name="connsiteY2" fmla="*/ 6840148 h 6840148"/>
              <a:gd name="connsiteX3" fmla="*/ 12037293 w 12191996"/>
              <a:gd name="connsiteY3" fmla="*/ 6840148 h 6840148"/>
              <a:gd name="connsiteX4" fmla="*/ 11848888 w 12191996"/>
              <a:gd name="connsiteY4" fmla="*/ 6818407 h 6840148"/>
              <a:gd name="connsiteX5" fmla="*/ 6095997 w 12191996"/>
              <a:gd name="connsiteY5" fmla="*/ 6568491 h 6840148"/>
              <a:gd name="connsiteX6" fmla="*/ 343107 w 12191996"/>
              <a:gd name="connsiteY6" fmla="*/ 6818407 h 6840148"/>
              <a:gd name="connsiteX7" fmla="*/ 154701 w 12191996"/>
              <a:gd name="connsiteY7" fmla="*/ 6840148 h 6840148"/>
              <a:gd name="connsiteX8" fmla="*/ 0 w 12191996"/>
              <a:gd name="connsiteY8" fmla="*/ 6840148 h 6840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1996" h="6840148">
                <a:moveTo>
                  <a:pt x="0" y="0"/>
                </a:moveTo>
                <a:lnTo>
                  <a:pt x="12191996" y="0"/>
                </a:lnTo>
                <a:lnTo>
                  <a:pt x="12191996" y="6840148"/>
                </a:lnTo>
                <a:lnTo>
                  <a:pt x="12037293" y="6840148"/>
                </a:lnTo>
                <a:lnTo>
                  <a:pt x="11848888" y="6818407"/>
                </a:lnTo>
                <a:cubicBezTo>
                  <a:pt x="10376595" y="6663996"/>
                  <a:pt x="8342641" y="6568491"/>
                  <a:pt x="6095997" y="6568491"/>
                </a:cubicBezTo>
                <a:cubicBezTo>
                  <a:pt x="3849354" y="6568491"/>
                  <a:pt x="1815400" y="6663996"/>
                  <a:pt x="343107" y="6818407"/>
                </a:cubicBezTo>
                <a:lnTo>
                  <a:pt x="154701" y="6840148"/>
                </a:lnTo>
                <a:lnTo>
                  <a:pt x="0" y="6840148"/>
                </a:lnTo>
                <a:close/>
              </a:path>
            </a:pathLst>
          </a:custGeom>
        </p:spPr>
      </p:pic>
      <p:sp>
        <p:nvSpPr>
          <p:cNvPr id="89" name="任意多边形: 形状 88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478167"/>
              <a:gd name="connsiteX1" fmla="*/ 12192000 w 12192000"/>
              <a:gd name="connsiteY1" fmla="*/ 0 h 6478167"/>
              <a:gd name="connsiteX2" fmla="*/ 12192000 w 12192000"/>
              <a:gd name="connsiteY2" fmla="*/ 6478167 h 6478167"/>
              <a:gd name="connsiteX3" fmla="*/ 11848892 w 12192000"/>
              <a:gd name="connsiteY3" fmla="*/ 6440767 h 6478167"/>
              <a:gd name="connsiteX4" fmla="*/ 6096001 w 12192000"/>
              <a:gd name="connsiteY4" fmla="*/ 6204692 h 6478167"/>
              <a:gd name="connsiteX5" fmla="*/ 343111 w 12192000"/>
              <a:gd name="connsiteY5" fmla="*/ 6440767 h 6478167"/>
              <a:gd name="connsiteX6" fmla="*/ 0 w 12192000"/>
              <a:gd name="connsiteY6" fmla="*/ 6478167 h 6478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478167">
                <a:moveTo>
                  <a:pt x="0" y="0"/>
                </a:moveTo>
                <a:lnTo>
                  <a:pt x="12192000" y="0"/>
                </a:lnTo>
                <a:lnTo>
                  <a:pt x="12192000" y="6478167"/>
                </a:lnTo>
                <a:lnTo>
                  <a:pt x="11848892" y="6440767"/>
                </a:lnTo>
                <a:cubicBezTo>
                  <a:pt x="10376599" y="6294908"/>
                  <a:pt x="8342645" y="6204692"/>
                  <a:pt x="6096001" y="6204692"/>
                </a:cubicBezTo>
                <a:cubicBezTo>
                  <a:pt x="3849358" y="6204692"/>
                  <a:pt x="1815404" y="6294908"/>
                  <a:pt x="343111" y="6440767"/>
                </a:cubicBezTo>
                <a:lnTo>
                  <a:pt x="0" y="6478167"/>
                </a:lnTo>
                <a:close/>
              </a:path>
            </a:pathLst>
          </a:custGeom>
          <a:solidFill>
            <a:srgbClr val="004098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fontAlgn="auto"/>
            <a:endParaRPr lang="zh-CN" altLang="en-US" strike="noStrike" noProof="1" dirty="0"/>
          </a:p>
        </p:txBody>
      </p:sp>
      <p:sp>
        <p:nvSpPr>
          <p:cNvPr id="90" name="任意多边形: 形状 89"/>
          <p:cNvSpPr/>
          <p:nvPr userDrawn="1"/>
        </p:nvSpPr>
        <p:spPr>
          <a:xfrm>
            <a:off x="92075" y="88900"/>
            <a:ext cx="12007850" cy="6665913"/>
          </a:xfrm>
          <a:custGeom>
            <a:avLst/>
            <a:gdLst>
              <a:gd name="connsiteX0" fmla="*/ 0 w 12192000"/>
              <a:gd name="connsiteY0" fmla="*/ 0 h 6478167"/>
              <a:gd name="connsiteX1" fmla="*/ 12192000 w 12192000"/>
              <a:gd name="connsiteY1" fmla="*/ 0 h 6478167"/>
              <a:gd name="connsiteX2" fmla="*/ 12192000 w 12192000"/>
              <a:gd name="connsiteY2" fmla="*/ 6478167 h 6478167"/>
              <a:gd name="connsiteX3" fmla="*/ 11848892 w 12192000"/>
              <a:gd name="connsiteY3" fmla="*/ 6440767 h 6478167"/>
              <a:gd name="connsiteX4" fmla="*/ 6096001 w 12192000"/>
              <a:gd name="connsiteY4" fmla="*/ 6204692 h 6478167"/>
              <a:gd name="connsiteX5" fmla="*/ 343111 w 12192000"/>
              <a:gd name="connsiteY5" fmla="*/ 6440767 h 6478167"/>
              <a:gd name="connsiteX6" fmla="*/ 0 w 12192000"/>
              <a:gd name="connsiteY6" fmla="*/ 6478167 h 6478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478167">
                <a:moveTo>
                  <a:pt x="0" y="0"/>
                </a:moveTo>
                <a:lnTo>
                  <a:pt x="12192000" y="0"/>
                </a:lnTo>
                <a:lnTo>
                  <a:pt x="12192000" y="6478167"/>
                </a:lnTo>
                <a:lnTo>
                  <a:pt x="11848892" y="6440767"/>
                </a:lnTo>
                <a:cubicBezTo>
                  <a:pt x="10376599" y="6294908"/>
                  <a:pt x="8342645" y="6204692"/>
                  <a:pt x="6096001" y="6204692"/>
                </a:cubicBezTo>
                <a:cubicBezTo>
                  <a:pt x="3849358" y="6204692"/>
                  <a:pt x="1815404" y="6294908"/>
                  <a:pt x="343111" y="6440767"/>
                </a:cubicBezTo>
                <a:lnTo>
                  <a:pt x="0" y="6478167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9" name="矩形 18"/>
          <p:cNvSpPr/>
          <p:nvPr userDrawn="1"/>
        </p:nvSpPr>
        <p:spPr>
          <a:xfrm>
            <a:off x="0" y="2576513"/>
            <a:ext cx="12192000" cy="17049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64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pic>
        <p:nvPicPr>
          <p:cNvPr id="2054" name="图片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16363" y="1004888"/>
            <a:ext cx="4359275" cy="1209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12250" y="349250"/>
            <a:ext cx="6157913" cy="6159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49" r="28176"/>
          <a:stretch>
            <a:fillRect/>
          </a:stretch>
        </p:blipFill>
        <p:spPr>
          <a:xfrm>
            <a:off x="0" y="2030"/>
            <a:ext cx="4861559" cy="6853941"/>
          </a:xfrm>
          <a:custGeom>
            <a:avLst/>
            <a:gdLst>
              <a:gd name="connsiteX0" fmla="*/ 0 w 4861559"/>
              <a:gd name="connsiteY0" fmla="*/ 0 h 6853940"/>
              <a:gd name="connsiteX1" fmla="*/ 4859682 w 4861559"/>
              <a:gd name="connsiteY1" fmla="*/ 0 h 6853940"/>
              <a:gd name="connsiteX2" fmla="*/ 4798582 w 4861559"/>
              <a:gd name="connsiteY2" fmla="*/ 132173 h 6853940"/>
              <a:gd name="connsiteX3" fmla="*/ 4176800 w 4861559"/>
              <a:gd name="connsiteY3" fmla="*/ 3424941 h 6853940"/>
              <a:gd name="connsiteX4" fmla="*/ 4798582 w 4861559"/>
              <a:gd name="connsiteY4" fmla="*/ 6717708 h 6853940"/>
              <a:gd name="connsiteX5" fmla="*/ 4861559 w 4861559"/>
              <a:gd name="connsiteY5" fmla="*/ 6853940 h 6853940"/>
              <a:gd name="connsiteX6" fmla="*/ 0 w 4861559"/>
              <a:gd name="connsiteY6" fmla="*/ 6853940 h 6853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61559" h="6853940">
                <a:moveTo>
                  <a:pt x="0" y="0"/>
                </a:moveTo>
                <a:lnTo>
                  <a:pt x="4859682" y="0"/>
                </a:lnTo>
                <a:lnTo>
                  <a:pt x="4798582" y="132173"/>
                </a:lnTo>
                <a:cubicBezTo>
                  <a:pt x="4406021" y="1072112"/>
                  <a:pt x="4176800" y="2205225"/>
                  <a:pt x="4176800" y="3424941"/>
                </a:cubicBezTo>
                <a:cubicBezTo>
                  <a:pt x="4176800" y="4644656"/>
                  <a:pt x="4406021" y="5777769"/>
                  <a:pt x="4798582" y="6717708"/>
                </a:cubicBezTo>
                <a:lnTo>
                  <a:pt x="4861559" y="6853940"/>
                </a:lnTo>
                <a:lnTo>
                  <a:pt x="0" y="6853940"/>
                </a:lnTo>
                <a:close/>
              </a:path>
            </a:pathLst>
          </a:custGeom>
        </p:spPr>
      </p:pic>
      <p:sp>
        <p:nvSpPr>
          <p:cNvPr id="43" name="任意多边形: 形状 42"/>
          <p:cNvSpPr/>
          <p:nvPr userDrawn="1"/>
        </p:nvSpPr>
        <p:spPr>
          <a:xfrm rot="16200000">
            <a:off x="-998537" y="998538"/>
            <a:ext cx="6858000" cy="4860925"/>
          </a:xfrm>
          <a:custGeom>
            <a:avLst/>
            <a:gdLst>
              <a:gd name="connsiteX0" fmla="*/ 0 w 12192000"/>
              <a:gd name="connsiteY0" fmla="*/ 0 h 3317099"/>
              <a:gd name="connsiteX1" fmla="*/ 12192000 w 12192000"/>
              <a:gd name="connsiteY1" fmla="*/ 0 h 3317099"/>
              <a:gd name="connsiteX2" fmla="*/ 12192000 w 12192000"/>
              <a:gd name="connsiteY2" fmla="*/ 3317099 h 3317099"/>
              <a:gd name="connsiteX3" fmla="*/ 11949809 w 12192000"/>
              <a:gd name="connsiteY3" fmla="*/ 3274129 h 3317099"/>
              <a:gd name="connsiteX4" fmla="*/ 6096000 w 12192000"/>
              <a:gd name="connsiteY4" fmla="*/ 2849880 h 3317099"/>
              <a:gd name="connsiteX5" fmla="*/ 242191 w 12192000"/>
              <a:gd name="connsiteY5" fmla="*/ 3274129 h 3317099"/>
              <a:gd name="connsiteX6" fmla="*/ 0 w 12192000"/>
              <a:gd name="connsiteY6" fmla="*/ 3317099 h 3317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317099">
                <a:moveTo>
                  <a:pt x="0" y="0"/>
                </a:moveTo>
                <a:lnTo>
                  <a:pt x="12192000" y="0"/>
                </a:lnTo>
                <a:lnTo>
                  <a:pt x="12192000" y="3317099"/>
                </a:lnTo>
                <a:lnTo>
                  <a:pt x="11949809" y="3274129"/>
                </a:lnTo>
                <a:cubicBezTo>
                  <a:pt x="10278806" y="3006280"/>
                  <a:pt x="8264383" y="2849880"/>
                  <a:pt x="6096000" y="2849880"/>
                </a:cubicBezTo>
                <a:cubicBezTo>
                  <a:pt x="3927617" y="2849880"/>
                  <a:pt x="1913194" y="3006280"/>
                  <a:pt x="242191" y="3274129"/>
                </a:cubicBezTo>
                <a:lnTo>
                  <a:pt x="0" y="3317099"/>
                </a:lnTo>
                <a:close/>
              </a:path>
            </a:pathLst>
          </a:custGeom>
          <a:solidFill>
            <a:srgbClr val="004098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fontAlgn="auto"/>
            <a:endParaRPr lang="zh-CN" altLang="en-US" strike="noStrike" noProof="1" dirty="0"/>
          </a:p>
        </p:txBody>
      </p:sp>
      <p:sp>
        <p:nvSpPr>
          <p:cNvPr id="44" name="任意多边形: 形状 43"/>
          <p:cNvSpPr>
            <a:spLocks noChangeAspect="1"/>
          </p:cNvSpPr>
          <p:nvPr userDrawn="1"/>
        </p:nvSpPr>
        <p:spPr>
          <a:xfrm rot="16200000">
            <a:off x="766763" y="3144838"/>
            <a:ext cx="6858000" cy="568325"/>
          </a:xfrm>
          <a:custGeom>
            <a:avLst/>
            <a:gdLst>
              <a:gd name="connsiteX0" fmla="*/ 0 w 12192000"/>
              <a:gd name="connsiteY0" fmla="*/ 0 h 3317099"/>
              <a:gd name="connsiteX1" fmla="*/ 12192000 w 12192000"/>
              <a:gd name="connsiteY1" fmla="*/ 0 h 3317099"/>
              <a:gd name="connsiteX2" fmla="*/ 12192000 w 12192000"/>
              <a:gd name="connsiteY2" fmla="*/ 3317099 h 3317099"/>
              <a:gd name="connsiteX3" fmla="*/ 11949809 w 12192000"/>
              <a:gd name="connsiteY3" fmla="*/ 3274129 h 3317099"/>
              <a:gd name="connsiteX4" fmla="*/ 6096000 w 12192000"/>
              <a:gd name="connsiteY4" fmla="*/ 2849880 h 3317099"/>
              <a:gd name="connsiteX5" fmla="*/ 242191 w 12192000"/>
              <a:gd name="connsiteY5" fmla="*/ 3274129 h 3317099"/>
              <a:gd name="connsiteX6" fmla="*/ 0 w 12192000"/>
              <a:gd name="connsiteY6" fmla="*/ 3317099 h 3317099"/>
              <a:gd name="connsiteX0-1" fmla="*/ 12192000 w 12283440"/>
              <a:gd name="connsiteY0-2" fmla="*/ 0 h 3317099"/>
              <a:gd name="connsiteX1-3" fmla="*/ 12192000 w 12283440"/>
              <a:gd name="connsiteY1-4" fmla="*/ 3317099 h 3317099"/>
              <a:gd name="connsiteX2-5" fmla="*/ 11949809 w 12283440"/>
              <a:gd name="connsiteY2-6" fmla="*/ 3274129 h 3317099"/>
              <a:gd name="connsiteX3-7" fmla="*/ 6096000 w 12283440"/>
              <a:gd name="connsiteY3-8" fmla="*/ 2849880 h 3317099"/>
              <a:gd name="connsiteX4-9" fmla="*/ 242191 w 12283440"/>
              <a:gd name="connsiteY4-10" fmla="*/ 3274129 h 3317099"/>
              <a:gd name="connsiteX5-11" fmla="*/ 0 w 12283440"/>
              <a:gd name="connsiteY5-12" fmla="*/ 3317099 h 3317099"/>
              <a:gd name="connsiteX6-13" fmla="*/ 0 w 12283440"/>
              <a:gd name="connsiteY6-14" fmla="*/ 0 h 3317099"/>
              <a:gd name="connsiteX7" fmla="*/ 12283440 w 12283440"/>
              <a:gd name="connsiteY7" fmla="*/ 91440 h 3317099"/>
              <a:gd name="connsiteX0-15" fmla="*/ 12192000 w 12192000"/>
              <a:gd name="connsiteY0-16" fmla="*/ 0 h 3317099"/>
              <a:gd name="connsiteX1-17" fmla="*/ 12192000 w 12192000"/>
              <a:gd name="connsiteY1-18" fmla="*/ 3317099 h 3317099"/>
              <a:gd name="connsiteX2-19" fmla="*/ 11949809 w 12192000"/>
              <a:gd name="connsiteY2-20" fmla="*/ 3274129 h 3317099"/>
              <a:gd name="connsiteX3-21" fmla="*/ 6096000 w 12192000"/>
              <a:gd name="connsiteY3-22" fmla="*/ 2849880 h 3317099"/>
              <a:gd name="connsiteX4-23" fmla="*/ 242191 w 12192000"/>
              <a:gd name="connsiteY4-24" fmla="*/ 3274129 h 3317099"/>
              <a:gd name="connsiteX5-25" fmla="*/ 0 w 12192000"/>
              <a:gd name="connsiteY5-26" fmla="*/ 3317099 h 3317099"/>
              <a:gd name="connsiteX6-27" fmla="*/ 0 w 12192000"/>
              <a:gd name="connsiteY6-28" fmla="*/ 0 h 3317099"/>
              <a:gd name="connsiteX0-29" fmla="*/ 12192000 w 12192000"/>
              <a:gd name="connsiteY0-30" fmla="*/ 3317099 h 3317099"/>
              <a:gd name="connsiteX1-31" fmla="*/ 11949809 w 12192000"/>
              <a:gd name="connsiteY1-32" fmla="*/ 3274129 h 3317099"/>
              <a:gd name="connsiteX2-33" fmla="*/ 6096000 w 12192000"/>
              <a:gd name="connsiteY2-34" fmla="*/ 2849880 h 3317099"/>
              <a:gd name="connsiteX3-35" fmla="*/ 242191 w 12192000"/>
              <a:gd name="connsiteY3-36" fmla="*/ 3274129 h 3317099"/>
              <a:gd name="connsiteX4-37" fmla="*/ 0 w 12192000"/>
              <a:gd name="connsiteY4-38" fmla="*/ 3317099 h 3317099"/>
              <a:gd name="connsiteX5-39" fmla="*/ 0 w 12192000"/>
              <a:gd name="connsiteY5-40" fmla="*/ 0 h 3317099"/>
              <a:gd name="connsiteX0-41" fmla="*/ 12192000 w 12192000"/>
              <a:gd name="connsiteY0-42" fmla="*/ 467219 h 467219"/>
              <a:gd name="connsiteX1-43" fmla="*/ 11949809 w 12192000"/>
              <a:gd name="connsiteY1-44" fmla="*/ 424249 h 467219"/>
              <a:gd name="connsiteX2-45" fmla="*/ 6096000 w 12192000"/>
              <a:gd name="connsiteY2-46" fmla="*/ 0 h 467219"/>
              <a:gd name="connsiteX3-47" fmla="*/ 242191 w 12192000"/>
              <a:gd name="connsiteY3-48" fmla="*/ 424249 h 467219"/>
              <a:gd name="connsiteX4-49" fmla="*/ 0 w 12192000"/>
              <a:gd name="connsiteY4-50" fmla="*/ 467219 h 46721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467219">
                <a:moveTo>
                  <a:pt x="12192000" y="467219"/>
                </a:moveTo>
                <a:lnTo>
                  <a:pt x="11949809" y="424249"/>
                </a:lnTo>
                <a:cubicBezTo>
                  <a:pt x="10278806" y="156400"/>
                  <a:pt x="8264383" y="0"/>
                  <a:pt x="6096000" y="0"/>
                </a:cubicBezTo>
                <a:cubicBezTo>
                  <a:pt x="3927617" y="0"/>
                  <a:pt x="1913194" y="156400"/>
                  <a:pt x="242191" y="424249"/>
                </a:cubicBezTo>
                <a:lnTo>
                  <a:pt x="0" y="46721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fontAlgn="auto"/>
            <a:endParaRPr lang="zh-CN" altLang="en-US" strike="noStrike" noProof="1"/>
          </a:p>
        </p:txBody>
      </p:sp>
      <p:pic>
        <p:nvPicPr>
          <p:cNvPr id="3078" name="图片 4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33400" y="320675"/>
            <a:ext cx="2066925" cy="5730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b="40000"/>
          <a:stretch>
            <a:fillRect/>
          </a:stretch>
        </p:blipFill>
        <p:spPr>
          <a:xfrm>
            <a:off x="-1" y="2743201"/>
            <a:ext cx="12191999" cy="4114798"/>
          </a:xfrm>
          <a:custGeom>
            <a:avLst/>
            <a:gdLst>
              <a:gd name="connsiteX0" fmla="*/ 0 w 12191999"/>
              <a:gd name="connsiteY0" fmla="*/ 0 h 4114798"/>
              <a:gd name="connsiteX1" fmla="*/ 12191999 w 12191999"/>
              <a:gd name="connsiteY1" fmla="*/ 0 h 4114798"/>
              <a:gd name="connsiteX2" fmla="*/ 12191999 w 12191999"/>
              <a:gd name="connsiteY2" fmla="*/ 4114798 h 4114798"/>
              <a:gd name="connsiteX3" fmla="*/ 0 w 12191999"/>
              <a:gd name="connsiteY3" fmla="*/ 4114798 h 4114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4114798">
                <a:moveTo>
                  <a:pt x="0" y="0"/>
                </a:moveTo>
                <a:lnTo>
                  <a:pt x="12191999" y="0"/>
                </a:lnTo>
                <a:lnTo>
                  <a:pt x="12191999" y="4114798"/>
                </a:lnTo>
                <a:lnTo>
                  <a:pt x="0" y="4114798"/>
                </a:lnTo>
                <a:close/>
              </a:path>
            </a:pathLst>
          </a:cu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b="40000"/>
          <a:stretch>
            <a:fillRect/>
          </a:stretch>
        </p:blipFill>
        <p:spPr>
          <a:xfrm>
            <a:off x="1" y="0"/>
            <a:ext cx="12191999" cy="4114798"/>
          </a:xfrm>
          <a:custGeom>
            <a:avLst/>
            <a:gdLst>
              <a:gd name="connsiteX0" fmla="*/ 0 w 12191999"/>
              <a:gd name="connsiteY0" fmla="*/ 0 h 4114798"/>
              <a:gd name="connsiteX1" fmla="*/ 12191999 w 12191999"/>
              <a:gd name="connsiteY1" fmla="*/ 0 h 4114798"/>
              <a:gd name="connsiteX2" fmla="*/ 12191999 w 12191999"/>
              <a:gd name="connsiteY2" fmla="*/ 4114798 h 4114798"/>
              <a:gd name="connsiteX3" fmla="*/ 0 w 12191999"/>
              <a:gd name="connsiteY3" fmla="*/ 4114798 h 4114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4114798">
                <a:moveTo>
                  <a:pt x="0" y="0"/>
                </a:moveTo>
                <a:lnTo>
                  <a:pt x="12191999" y="0"/>
                </a:lnTo>
                <a:lnTo>
                  <a:pt x="12191999" y="4114798"/>
                </a:lnTo>
                <a:lnTo>
                  <a:pt x="0" y="4114798"/>
                </a:lnTo>
                <a:close/>
              </a:path>
            </a:pathLst>
          </a:cu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098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64" name="矩形 63"/>
          <p:cNvSpPr/>
          <p:nvPr userDrawn="1"/>
        </p:nvSpPr>
        <p:spPr>
          <a:xfrm>
            <a:off x="0" y="1670050"/>
            <a:ext cx="12192000" cy="351790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292100" sx="102000" sy="102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2400" strike="noStrike" noProof="1"/>
          </a:p>
        </p:txBody>
      </p:sp>
      <p:sp>
        <p:nvSpPr>
          <p:cNvPr id="7" name="矩形 6"/>
          <p:cNvSpPr/>
          <p:nvPr userDrawn="1"/>
        </p:nvSpPr>
        <p:spPr>
          <a:xfrm>
            <a:off x="0" y="1776413"/>
            <a:ext cx="12192000" cy="33051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92100" sx="102000" sy="102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2400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任意多边形: 形状 59"/>
          <p:cNvSpPr/>
          <p:nvPr userDrawn="1"/>
        </p:nvSpPr>
        <p:spPr>
          <a:xfrm>
            <a:off x="1550988" y="0"/>
            <a:ext cx="10569575" cy="544513"/>
          </a:xfrm>
          <a:custGeom>
            <a:avLst/>
            <a:gdLst>
              <a:gd name="connsiteX0" fmla="*/ 0 w 2128198"/>
              <a:gd name="connsiteY0" fmla="*/ 0 h 544010"/>
              <a:gd name="connsiteX1" fmla="*/ 2128198 w 2128198"/>
              <a:gd name="connsiteY1" fmla="*/ 0 h 544010"/>
              <a:gd name="connsiteX2" fmla="*/ 2128198 w 2128198"/>
              <a:gd name="connsiteY2" fmla="*/ 544010 h 544010"/>
              <a:gd name="connsiteX3" fmla="*/ 0 w 2128198"/>
              <a:gd name="connsiteY3" fmla="*/ 544010 h 544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8198" h="544010">
                <a:moveTo>
                  <a:pt x="0" y="0"/>
                </a:moveTo>
                <a:lnTo>
                  <a:pt x="2128198" y="0"/>
                </a:lnTo>
                <a:lnTo>
                  <a:pt x="2128198" y="544010"/>
                </a:lnTo>
                <a:lnTo>
                  <a:pt x="0" y="544010"/>
                </a:lnTo>
                <a:close/>
              </a:path>
            </a:pathLst>
          </a:custGeom>
          <a:solidFill>
            <a:srgbClr val="00409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 fontAlgn="auto"/>
            <a:endParaRPr lang="zh-CN" altLang="en-US" strike="noStrike" noProof="1" dirty="0"/>
          </a:p>
        </p:txBody>
      </p:sp>
      <p:sp>
        <p:nvSpPr>
          <p:cNvPr id="3" name="矩形 2"/>
          <p:cNvSpPr/>
          <p:nvPr userDrawn="1"/>
        </p:nvSpPr>
        <p:spPr>
          <a:xfrm>
            <a:off x="0" y="542925"/>
            <a:ext cx="12192000" cy="63150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43" name="矩形 142"/>
          <p:cNvSpPr/>
          <p:nvPr userDrawn="1"/>
        </p:nvSpPr>
        <p:spPr>
          <a:xfrm>
            <a:off x="1341438" y="96838"/>
            <a:ext cx="107950" cy="350838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50800" dist="381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85" name="矩形 84"/>
          <p:cNvSpPr/>
          <p:nvPr userDrawn="1"/>
        </p:nvSpPr>
        <p:spPr>
          <a:xfrm>
            <a:off x="0" y="0"/>
            <a:ext cx="1377950" cy="544513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54" name="矩形 53"/>
          <p:cNvSpPr/>
          <p:nvPr userDrawn="1"/>
        </p:nvSpPr>
        <p:spPr>
          <a:xfrm>
            <a:off x="0" y="543601"/>
            <a:ext cx="12192000" cy="6314399"/>
          </a:xfrm>
          <a:prstGeom prst="rect">
            <a:avLst/>
          </a:prstGeom>
          <a:blipFill dpi="0" rotWithShape="1">
            <a:blip r:embed="rId2">
              <a:alphaModFix amt="7000"/>
            </a:blip>
            <a:srcRect/>
            <a:tile tx="0" ty="0" sx="100000" sy="100000" flip="none" algn="b"/>
          </a:blip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42" name="矩形 141"/>
          <p:cNvSpPr/>
          <p:nvPr userDrawn="1"/>
        </p:nvSpPr>
        <p:spPr>
          <a:xfrm>
            <a:off x="12120563" y="96838"/>
            <a:ext cx="71438" cy="350838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152400" dist="38100" dir="10800000" algn="r" rotWithShape="0">
              <a:srgbClr val="60080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150" name="直接连接符 149"/>
          <p:cNvCxnSpPr/>
          <p:nvPr userDrawn="1"/>
        </p:nvCxnSpPr>
        <p:spPr>
          <a:xfrm>
            <a:off x="515938" y="6489700"/>
            <a:ext cx="1116012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 userDrawn="1"/>
        </p:nvSpPr>
        <p:spPr>
          <a:xfrm>
            <a:off x="0" y="542925"/>
            <a:ext cx="12192000" cy="6315075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pic>
        <p:nvPicPr>
          <p:cNvPr id="5130" name="图片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3863" y="26988"/>
            <a:ext cx="492125" cy="4905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31" name="图片 5"/>
          <p:cNvPicPr>
            <a:picLocks noChangeAspect="1"/>
          </p:cNvPicPr>
          <p:nvPr userDrawn="1"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10163175" y="123825"/>
            <a:ext cx="1841500" cy="292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551008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l">
              <a:buNone/>
              <a:defRPr lang="zh-CN" altLang="en-US" sz="2000" spc="300" dirty="0" smtClean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 algn="ctr" fontAlgn="auto"/>
            <a:endParaRPr lang="zh-CN" altLang="en-US" strike="noStrike" noProof="1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61663" y="6438900"/>
            <a:ext cx="914400" cy="290513"/>
          </a:xfrm>
          <a:prstGeom prst="rect">
            <a:avLst/>
          </a:prstGeom>
        </p:spPr>
        <p:txBody>
          <a:bodyPr vert="horz" lIns="91440" tIns="45720" rIns="0" bIns="45720" rtlCol="0" anchor="ctr">
            <a:normAutofit/>
          </a:bodyPr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fontAlgn="auto"/>
            <a:r>
              <a:rPr lang="zh-CN" altLang="en-US" strike="noStrike" noProof="1">
                <a:latin typeface="+mn-ea"/>
                <a:ea typeface="+mn-ea"/>
                <a:cs typeface="+mn-cs"/>
              </a:rPr>
              <a:t>  </a:t>
            </a:r>
            <a:r>
              <a:rPr lang="en-US" altLang="zh-CN" strike="noStrike" spc="90" noProof="1">
                <a:latin typeface="+mn-ea"/>
                <a:ea typeface="+mn-ea"/>
                <a:cs typeface="+mn-cs"/>
              </a:rPr>
              <a:t>Page </a:t>
            </a:r>
            <a:fld id="{7CFB1EEF-B761-4911-A2FD-18DBD3241D03}" type="slidenum">
              <a:rPr lang="zh-CN" altLang="en-US" strike="noStrike" spc="90" noProof="1" smtClean="0">
                <a:latin typeface="+mn-ea"/>
                <a:ea typeface="+mn-ea"/>
                <a:cs typeface="+mn-cs"/>
              </a:rPr>
            </a:fld>
            <a:endParaRPr lang="zh-CN" altLang="en-US" strike="noStrike" spc="90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098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 hasCustomPrompt="1"/>
          </p:nvPr>
        </p:nvSpPr>
        <p:spPr>
          <a:xfrm>
            <a:off x="680135" y="464249"/>
            <a:ext cx="10129035" cy="553998"/>
          </a:xfrm>
        </p:spPr>
        <p:txBody>
          <a:bodyPr>
            <a:normAutofit/>
          </a:bodyPr>
          <a:lstStyle>
            <a:lvl1pPr>
              <a:defRPr sz="3000" b="1">
                <a:solidFill>
                  <a:schemeClr val="tx2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 fontAlgn="auto"/>
            <a:r>
              <a:rPr lang="zh-CN" altLang="en-US" strike="noStrike" noProof="1" dirty="0"/>
              <a:t>输入内容标题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 dirty="0"/>
              <a:t>单击此处编辑标题</a:t>
            </a:r>
            <a:endParaRPr lang="zh-CN" altLang="en-US" strike="noStrike" noProof="1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"/>
          <a:stretch>
            <a:fillRect/>
          </a:stretch>
        </p:blipFill>
        <p:spPr>
          <a:xfrm>
            <a:off x="-3" y="8926"/>
            <a:ext cx="12191996" cy="6840148"/>
          </a:xfrm>
          <a:custGeom>
            <a:avLst/>
            <a:gdLst>
              <a:gd name="connsiteX0" fmla="*/ 0 w 12191996"/>
              <a:gd name="connsiteY0" fmla="*/ 0 h 6840148"/>
              <a:gd name="connsiteX1" fmla="*/ 12191996 w 12191996"/>
              <a:gd name="connsiteY1" fmla="*/ 0 h 6840148"/>
              <a:gd name="connsiteX2" fmla="*/ 12191996 w 12191996"/>
              <a:gd name="connsiteY2" fmla="*/ 6840148 h 6840148"/>
              <a:gd name="connsiteX3" fmla="*/ 12037293 w 12191996"/>
              <a:gd name="connsiteY3" fmla="*/ 6840148 h 6840148"/>
              <a:gd name="connsiteX4" fmla="*/ 11848888 w 12191996"/>
              <a:gd name="connsiteY4" fmla="*/ 6818407 h 6840148"/>
              <a:gd name="connsiteX5" fmla="*/ 6095997 w 12191996"/>
              <a:gd name="connsiteY5" fmla="*/ 6568491 h 6840148"/>
              <a:gd name="connsiteX6" fmla="*/ 343107 w 12191996"/>
              <a:gd name="connsiteY6" fmla="*/ 6818407 h 6840148"/>
              <a:gd name="connsiteX7" fmla="*/ 154701 w 12191996"/>
              <a:gd name="connsiteY7" fmla="*/ 6840148 h 6840148"/>
              <a:gd name="connsiteX8" fmla="*/ 0 w 12191996"/>
              <a:gd name="connsiteY8" fmla="*/ 6840148 h 6840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1996" h="6840148">
                <a:moveTo>
                  <a:pt x="0" y="0"/>
                </a:moveTo>
                <a:lnTo>
                  <a:pt x="12191996" y="0"/>
                </a:lnTo>
                <a:lnTo>
                  <a:pt x="12191996" y="6840148"/>
                </a:lnTo>
                <a:lnTo>
                  <a:pt x="12037293" y="6840148"/>
                </a:lnTo>
                <a:lnTo>
                  <a:pt x="11848888" y="6818407"/>
                </a:lnTo>
                <a:cubicBezTo>
                  <a:pt x="10376595" y="6663996"/>
                  <a:pt x="8342641" y="6568491"/>
                  <a:pt x="6095997" y="6568491"/>
                </a:cubicBezTo>
                <a:cubicBezTo>
                  <a:pt x="3849354" y="6568491"/>
                  <a:pt x="1815400" y="6663996"/>
                  <a:pt x="343107" y="6818407"/>
                </a:cubicBezTo>
                <a:lnTo>
                  <a:pt x="154701" y="6840148"/>
                </a:lnTo>
                <a:lnTo>
                  <a:pt x="0" y="6840148"/>
                </a:lnTo>
                <a:close/>
              </a:path>
            </a:pathLst>
          </a:custGeom>
        </p:spPr>
      </p:pic>
      <p:sp>
        <p:nvSpPr>
          <p:cNvPr id="89" name="任意多边形: 形状 88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478167"/>
              <a:gd name="connsiteX1" fmla="*/ 12192000 w 12192000"/>
              <a:gd name="connsiteY1" fmla="*/ 0 h 6478167"/>
              <a:gd name="connsiteX2" fmla="*/ 12192000 w 12192000"/>
              <a:gd name="connsiteY2" fmla="*/ 6478167 h 6478167"/>
              <a:gd name="connsiteX3" fmla="*/ 11848892 w 12192000"/>
              <a:gd name="connsiteY3" fmla="*/ 6440767 h 6478167"/>
              <a:gd name="connsiteX4" fmla="*/ 6096001 w 12192000"/>
              <a:gd name="connsiteY4" fmla="*/ 6204692 h 6478167"/>
              <a:gd name="connsiteX5" fmla="*/ 343111 w 12192000"/>
              <a:gd name="connsiteY5" fmla="*/ 6440767 h 6478167"/>
              <a:gd name="connsiteX6" fmla="*/ 0 w 12192000"/>
              <a:gd name="connsiteY6" fmla="*/ 6478167 h 6478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478167">
                <a:moveTo>
                  <a:pt x="0" y="0"/>
                </a:moveTo>
                <a:lnTo>
                  <a:pt x="12192000" y="0"/>
                </a:lnTo>
                <a:lnTo>
                  <a:pt x="12192000" y="6478167"/>
                </a:lnTo>
                <a:lnTo>
                  <a:pt x="11848892" y="6440767"/>
                </a:lnTo>
                <a:cubicBezTo>
                  <a:pt x="10376599" y="6294908"/>
                  <a:pt x="8342645" y="6204692"/>
                  <a:pt x="6096001" y="6204692"/>
                </a:cubicBezTo>
                <a:cubicBezTo>
                  <a:pt x="3849358" y="6204692"/>
                  <a:pt x="1815404" y="6294908"/>
                  <a:pt x="343111" y="6440767"/>
                </a:cubicBezTo>
                <a:lnTo>
                  <a:pt x="0" y="6478167"/>
                </a:lnTo>
                <a:close/>
              </a:path>
            </a:pathLst>
          </a:custGeom>
          <a:solidFill>
            <a:srgbClr val="004098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fontAlgn="auto"/>
            <a:endParaRPr lang="zh-CN" altLang="en-US" sz="1800" strike="noStrike" noProof="1" dirty="0"/>
          </a:p>
        </p:txBody>
      </p:sp>
      <p:sp>
        <p:nvSpPr>
          <p:cNvPr id="90" name="任意多边形: 形状 89"/>
          <p:cNvSpPr/>
          <p:nvPr userDrawn="1"/>
        </p:nvSpPr>
        <p:spPr>
          <a:xfrm>
            <a:off x="92075" y="88900"/>
            <a:ext cx="12007850" cy="6665913"/>
          </a:xfrm>
          <a:custGeom>
            <a:avLst/>
            <a:gdLst>
              <a:gd name="connsiteX0" fmla="*/ 0 w 12192000"/>
              <a:gd name="connsiteY0" fmla="*/ 0 h 6478167"/>
              <a:gd name="connsiteX1" fmla="*/ 12192000 w 12192000"/>
              <a:gd name="connsiteY1" fmla="*/ 0 h 6478167"/>
              <a:gd name="connsiteX2" fmla="*/ 12192000 w 12192000"/>
              <a:gd name="connsiteY2" fmla="*/ 6478167 h 6478167"/>
              <a:gd name="connsiteX3" fmla="*/ 11848892 w 12192000"/>
              <a:gd name="connsiteY3" fmla="*/ 6440767 h 6478167"/>
              <a:gd name="connsiteX4" fmla="*/ 6096001 w 12192000"/>
              <a:gd name="connsiteY4" fmla="*/ 6204692 h 6478167"/>
              <a:gd name="connsiteX5" fmla="*/ 343111 w 12192000"/>
              <a:gd name="connsiteY5" fmla="*/ 6440767 h 6478167"/>
              <a:gd name="connsiteX6" fmla="*/ 0 w 12192000"/>
              <a:gd name="connsiteY6" fmla="*/ 6478167 h 6478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478167">
                <a:moveTo>
                  <a:pt x="0" y="0"/>
                </a:moveTo>
                <a:lnTo>
                  <a:pt x="12192000" y="0"/>
                </a:lnTo>
                <a:lnTo>
                  <a:pt x="12192000" y="6478167"/>
                </a:lnTo>
                <a:lnTo>
                  <a:pt x="11848892" y="6440767"/>
                </a:lnTo>
                <a:cubicBezTo>
                  <a:pt x="10376599" y="6294908"/>
                  <a:pt x="8342645" y="6204692"/>
                  <a:pt x="6096001" y="6204692"/>
                </a:cubicBezTo>
                <a:cubicBezTo>
                  <a:pt x="3849358" y="6204692"/>
                  <a:pt x="1815404" y="6294908"/>
                  <a:pt x="343111" y="6440767"/>
                </a:cubicBezTo>
                <a:lnTo>
                  <a:pt x="0" y="6478167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fontAlgn="auto"/>
            <a:endParaRPr lang="zh-CN" altLang="en-US" sz="1800" strike="noStrike" noProof="1"/>
          </a:p>
        </p:txBody>
      </p:sp>
      <p:sp>
        <p:nvSpPr>
          <p:cNvPr id="19" name="矩形 18"/>
          <p:cNvSpPr/>
          <p:nvPr userDrawn="1"/>
        </p:nvSpPr>
        <p:spPr>
          <a:xfrm>
            <a:off x="0" y="2576513"/>
            <a:ext cx="12192000" cy="17049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64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800" strike="noStrike" noProof="1"/>
          </a:p>
        </p:txBody>
      </p:sp>
      <p:pic>
        <p:nvPicPr>
          <p:cNvPr id="2054" name="图片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16363" y="1004888"/>
            <a:ext cx="4359275" cy="1209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12250" y="349250"/>
            <a:ext cx="6157913" cy="6159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49" r="28176"/>
          <a:stretch>
            <a:fillRect/>
          </a:stretch>
        </p:blipFill>
        <p:spPr>
          <a:xfrm>
            <a:off x="0" y="2030"/>
            <a:ext cx="4861559" cy="6853941"/>
          </a:xfrm>
          <a:custGeom>
            <a:avLst/>
            <a:gdLst>
              <a:gd name="connsiteX0" fmla="*/ 0 w 4861559"/>
              <a:gd name="connsiteY0" fmla="*/ 0 h 6853940"/>
              <a:gd name="connsiteX1" fmla="*/ 4859682 w 4861559"/>
              <a:gd name="connsiteY1" fmla="*/ 0 h 6853940"/>
              <a:gd name="connsiteX2" fmla="*/ 4798582 w 4861559"/>
              <a:gd name="connsiteY2" fmla="*/ 132173 h 6853940"/>
              <a:gd name="connsiteX3" fmla="*/ 4176800 w 4861559"/>
              <a:gd name="connsiteY3" fmla="*/ 3424941 h 6853940"/>
              <a:gd name="connsiteX4" fmla="*/ 4798582 w 4861559"/>
              <a:gd name="connsiteY4" fmla="*/ 6717708 h 6853940"/>
              <a:gd name="connsiteX5" fmla="*/ 4861559 w 4861559"/>
              <a:gd name="connsiteY5" fmla="*/ 6853940 h 6853940"/>
              <a:gd name="connsiteX6" fmla="*/ 0 w 4861559"/>
              <a:gd name="connsiteY6" fmla="*/ 6853940 h 6853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61559" h="6853940">
                <a:moveTo>
                  <a:pt x="0" y="0"/>
                </a:moveTo>
                <a:lnTo>
                  <a:pt x="4859682" y="0"/>
                </a:lnTo>
                <a:lnTo>
                  <a:pt x="4798582" y="132173"/>
                </a:lnTo>
                <a:cubicBezTo>
                  <a:pt x="4406021" y="1072112"/>
                  <a:pt x="4176800" y="2205225"/>
                  <a:pt x="4176800" y="3424941"/>
                </a:cubicBezTo>
                <a:cubicBezTo>
                  <a:pt x="4176800" y="4644656"/>
                  <a:pt x="4406021" y="5777769"/>
                  <a:pt x="4798582" y="6717708"/>
                </a:cubicBezTo>
                <a:lnTo>
                  <a:pt x="4861559" y="6853940"/>
                </a:lnTo>
                <a:lnTo>
                  <a:pt x="0" y="6853940"/>
                </a:lnTo>
                <a:close/>
              </a:path>
            </a:pathLst>
          </a:custGeom>
        </p:spPr>
      </p:pic>
      <p:sp>
        <p:nvSpPr>
          <p:cNvPr id="43" name="任意多边形: 形状 42"/>
          <p:cNvSpPr/>
          <p:nvPr userDrawn="1"/>
        </p:nvSpPr>
        <p:spPr>
          <a:xfrm rot="16200000">
            <a:off x="-998537" y="998538"/>
            <a:ext cx="6858000" cy="4860925"/>
          </a:xfrm>
          <a:custGeom>
            <a:avLst/>
            <a:gdLst>
              <a:gd name="connsiteX0" fmla="*/ 0 w 12192000"/>
              <a:gd name="connsiteY0" fmla="*/ 0 h 3317099"/>
              <a:gd name="connsiteX1" fmla="*/ 12192000 w 12192000"/>
              <a:gd name="connsiteY1" fmla="*/ 0 h 3317099"/>
              <a:gd name="connsiteX2" fmla="*/ 12192000 w 12192000"/>
              <a:gd name="connsiteY2" fmla="*/ 3317099 h 3317099"/>
              <a:gd name="connsiteX3" fmla="*/ 11949809 w 12192000"/>
              <a:gd name="connsiteY3" fmla="*/ 3274129 h 3317099"/>
              <a:gd name="connsiteX4" fmla="*/ 6096000 w 12192000"/>
              <a:gd name="connsiteY4" fmla="*/ 2849880 h 3317099"/>
              <a:gd name="connsiteX5" fmla="*/ 242191 w 12192000"/>
              <a:gd name="connsiteY5" fmla="*/ 3274129 h 3317099"/>
              <a:gd name="connsiteX6" fmla="*/ 0 w 12192000"/>
              <a:gd name="connsiteY6" fmla="*/ 3317099 h 3317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317099">
                <a:moveTo>
                  <a:pt x="0" y="0"/>
                </a:moveTo>
                <a:lnTo>
                  <a:pt x="12192000" y="0"/>
                </a:lnTo>
                <a:lnTo>
                  <a:pt x="12192000" y="3317099"/>
                </a:lnTo>
                <a:lnTo>
                  <a:pt x="11949809" y="3274129"/>
                </a:lnTo>
                <a:cubicBezTo>
                  <a:pt x="10278806" y="3006280"/>
                  <a:pt x="8264383" y="2849880"/>
                  <a:pt x="6096000" y="2849880"/>
                </a:cubicBezTo>
                <a:cubicBezTo>
                  <a:pt x="3927617" y="2849880"/>
                  <a:pt x="1913194" y="3006280"/>
                  <a:pt x="242191" y="3274129"/>
                </a:cubicBezTo>
                <a:lnTo>
                  <a:pt x="0" y="3317099"/>
                </a:lnTo>
                <a:close/>
              </a:path>
            </a:pathLst>
          </a:custGeom>
          <a:solidFill>
            <a:srgbClr val="004098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fontAlgn="auto"/>
            <a:endParaRPr lang="zh-CN" altLang="en-US" sz="1800" strike="noStrike" noProof="1" dirty="0"/>
          </a:p>
        </p:txBody>
      </p:sp>
      <p:sp>
        <p:nvSpPr>
          <p:cNvPr id="44" name="任意多边形: 形状 43"/>
          <p:cNvSpPr>
            <a:spLocks noChangeAspect="1"/>
          </p:cNvSpPr>
          <p:nvPr userDrawn="1"/>
        </p:nvSpPr>
        <p:spPr>
          <a:xfrm rot="16200000">
            <a:off x="766763" y="3144838"/>
            <a:ext cx="6858000" cy="568325"/>
          </a:xfrm>
          <a:custGeom>
            <a:avLst/>
            <a:gdLst>
              <a:gd name="connsiteX0" fmla="*/ 0 w 12192000"/>
              <a:gd name="connsiteY0" fmla="*/ 0 h 3317099"/>
              <a:gd name="connsiteX1" fmla="*/ 12192000 w 12192000"/>
              <a:gd name="connsiteY1" fmla="*/ 0 h 3317099"/>
              <a:gd name="connsiteX2" fmla="*/ 12192000 w 12192000"/>
              <a:gd name="connsiteY2" fmla="*/ 3317099 h 3317099"/>
              <a:gd name="connsiteX3" fmla="*/ 11949809 w 12192000"/>
              <a:gd name="connsiteY3" fmla="*/ 3274129 h 3317099"/>
              <a:gd name="connsiteX4" fmla="*/ 6096000 w 12192000"/>
              <a:gd name="connsiteY4" fmla="*/ 2849880 h 3317099"/>
              <a:gd name="connsiteX5" fmla="*/ 242191 w 12192000"/>
              <a:gd name="connsiteY5" fmla="*/ 3274129 h 3317099"/>
              <a:gd name="connsiteX6" fmla="*/ 0 w 12192000"/>
              <a:gd name="connsiteY6" fmla="*/ 3317099 h 3317099"/>
              <a:gd name="connsiteX0-1" fmla="*/ 12192000 w 12283440"/>
              <a:gd name="connsiteY0-2" fmla="*/ 0 h 3317099"/>
              <a:gd name="connsiteX1-3" fmla="*/ 12192000 w 12283440"/>
              <a:gd name="connsiteY1-4" fmla="*/ 3317099 h 3317099"/>
              <a:gd name="connsiteX2-5" fmla="*/ 11949809 w 12283440"/>
              <a:gd name="connsiteY2-6" fmla="*/ 3274129 h 3317099"/>
              <a:gd name="connsiteX3-7" fmla="*/ 6096000 w 12283440"/>
              <a:gd name="connsiteY3-8" fmla="*/ 2849880 h 3317099"/>
              <a:gd name="connsiteX4-9" fmla="*/ 242191 w 12283440"/>
              <a:gd name="connsiteY4-10" fmla="*/ 3274129 h 3317099"/>
              <a:gd name="connsiteX5-11" fmla="*/ 0 w 12283440"/>
              <a:gd name="connsiteY5-12" fmla="*/ 3317099 h 3317099"/>
              <a:gd name="connsiteX6-13" fmla="*/ 0 w 12283440"/>
              <a:gd name="connsiteY6-14" fmla="*/ 0 h 3317099"/>
              <a:gd name="connsiteX7" fmla="*/ 12283440 w 12283440"/>
              <a:gd name="connsiteY7" fmla="*/ 91440 h 3317099"/>
              <a:gd name="connsiteX0-15" fmla="*/ 12192000 w 12192000"/>
              <a:gd name="connsiteY0-16" fmla="*/ 0 h 3317099"/>
              <a:gd name="connsiteX1-17" fmla="*/ 12192000 w 12192000"/>
              <a:gd name="connsiteY1-18" fmla="*/ 3317099 h 3317099"/>
              <a:gd name="connsiteX2-19" fmla="*/ 11949809 w 12192000"/>
              <a:gd name="connsiteY2-20" fmla="*/ 3274129 h 3317099"/>
              <a:gd name="connsiteX3-21" fmla="*/ 6096000 w 12192000"/>
              <a:gd name="connsiteY3-22" fmla="*/ 2849880 h 3317099"/>
              <a:gd name="connsiteX4-23" fmla="*/ 242191 w 12192000"/>
              <a:gd name="connsiteY4-24" fmla="*/ 3274129 h 3317099"/>
              <a:gd name="connsiteX5-25" fmla="*/ 0 w 12192000"/>
              <a:gd name="connsiteY5-26" fmla="*/ 3317099 h 3317099"/>
              <a:gd name="connsiteX6-27" fmla="*/ 0 w 12192000"/>
              <a:gd name="connsiteY6-28" fmla="*/ 0 h 3317099"/>
              <a:gd name="connsiteX0-29" fmla="*/ 12192000 w 12192000"/>
              <a:gd name="connsiteY0-30" fmla="*/ 3317099 h 3317099"/>
              <a:gd name="connsiteX1-31" fmla="*/ 11949809 w 12192000"/>
              <a:gd name="connsiteY1-32" fmla="*/ 3274129 h 3317099"/>
              <a:gd name="connsiteX2-33" fmla="*/ 6096000 w 12192000"/>
              <a:gd name="connsiteY2-34" fmla="*/ 2849880 h 3317099"/>
              <a:gd name="connsiteX3-35" fmla="*/ 242191 w 12192000"/>
              <a:gd name="connsiteY3-36" fmla="*/ 3274129 h 3317099"/>
              <a:gd name="connsiteX4-37" fmla="*/ 0 w 12192000"/>
              <a:gd name="connsiteY4-38" fmla="*/ 3317099 h 3317099"/>
              <a:gd name="connsiteX5-39" fmla="*/ 0 w 12192000"/>
              <a:gd name="connsiteY5-40" fmla="*/ 0 h 3317099"/>
              <a:gd name="connsiteX0-41" fmla="*/ 12192000 w 12192000"/>
              <a:gd name="connsiteY0-42" fmla="*/ 467219 h 467219"/>
              <a:gd name="connsiteX1-43" fmla="*/ 11949809 w 12192000"/>
              <a:gd name="connsiteY1-44" fmla="*/ 424249 h 467219"/>
              <a:gd name="connsiteX2-45" fmla="*/ 6096000 w 12192000"/>
              <a:gd name="connsiteY2-46" fmla="*/ 0 h 467219"/>
              <a:gd name="connsiteX3-47" fmla="*/ 242191 w 12192000"/>
              <a:gd name="connsiteY3-48" fmla="*/ 424249 h 467219"/>
              <a:gd name="connsiteX4-49" fmla="*/ 0 w 12192000"/>
              <a:gd name="connsiteY4-50" fmla="*/ 467219 h 46721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467219">
                <a:moveTo>
                  <a:pt x="12192000" y="467219"/>
                </a:moveTo>
                <a:lnTo>
                  <a:pt x="11949809" y="424249"/>
                </a:lnTo>
                <a:cubicBezTo>
                  <a:pt x="10278806" y="156400"/>
                  <a:pt x="8264383" y="0"/>
                  <a:pt x="6096000" y="0"/>
                </a:cubicBezTo>
                <a:cubicBezTo>
                  <a:pt x="3927617" y="0"/>
                  <a:pt x="1913194" y="156400"/>
                  <a:pt x="242191" y="424249"/>
                </a:cubicBezTo>
                <a:lnTo>
                  <a:pt x="0" y="46721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fontAlgn="auto"/>
            <a:endParaRPr lang="zh-CN" altLang="en-US" sz="1800" strike="noStrike" noProof="1"/>
          </a:p>
        </p:txBody>
      </p:sp>
      <p:pic>
        <p:nvPicPr>
          <p:cNvPr id="3078" name="图片 4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33400" y="320675"/>
            <a:ext cx="2066925" cy="5730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b="40000"/>
          <a:stretch>
            <a:fillRect/>
          </a:stretch>
        </p:blipFill>
        <p:spPr>
          <a:xfrm>
            <a:off x="-1" y="2743201"/>
            <a:ext cx="12191999" cy="4114798"/>
          </a:xfrm>
          <a:custGeom>
            <a:avLst/>
            <a:gdLst>
              <a:gd name="connsiteX0" fmla="*/ 0 w 12191999"/>
              <a:gd name="connsiteY0" fmla="*/ 0 h 4114798"/>
              <a:gd name="connsiteX1" fmla="*/ 12191999 w 12191999"/>
              <a:gd name="connsiteY1" fmla="*/ 0 h 4114798"/>
              <a:gd name="connsiteX2" fmla="*/ 12191999 w 12191999"/>
              <a:gd name="connsiteY2" fmla="*/ 4114798 h 4114798"/>
              <a:gd name="connsiteX3" fmla="*/ 0 w 12191999"/>
              <a:gd name="connsiteY3" fmla="*/ 4114798 h 4114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4114798">
                <a:moveTo>
                  <a:pt x="0" y="0"/>
                </a:moveTo>
                <a:lnTo>
                  <a:pt x="12191999" y="0"/>
                </a:lnTo>
                <a:lnTo>
                  <a:pt x="12191999" y="4114798"/>
                </a:lnTo>
                <a:lnTo>
                  <a:pt x="0" y="4114798"/>
                </a:lnTo>
                <a:close/>
              </a:path>
            </a:pathLst>
          </a:cu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b="40000"/>
          <a:stretch>
            <a:fillRect/>
          </a:stretch>
        </p:blipFill>
        <p:spPr>
          <a:xfrm>
            <a:off x="1" y="0"/>
            <a:ext cx="12191999" cy="4114798"/>
          </a:xfrm>
          <a:custGeom>
            <a:avLst/>
            <a:gdLst>
              <a:gd name="connsiteX0" fmla="*/ 0 w 12191999"/>
              <a:gd name="connsiteY0" fmla="*/ 0 h 4114798"/>
              <a:gd name="connsiteX1" fmla="*/ 12191999 w 12191999"/>
              <a:gd name="connsiteY1" fmla="*/ 0 h 4114798"/>
              <a:gd name="connsiteX2" fmla="*/ 12191999 w 12191999"/>
              <a:gd name="connsiteY2" fmla="*/ 4114798 h 4114798"/>
              <a:gd name="connsiteX3" fmla="*/ 0 w 12191999"/>
              <a:gd name="connsiteY3" fmla="*/ 4114798 h 4114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4114798">
                <a:moveTo>
                  <a:pt x="0" y="0"/>
                </a:moveTo>
                <a:lnTo>
                  <a:pt x="12191999" y="0"/>
                </a:lnTo>
                <a:lnTo>
                  <a:pt x="12191999" y="4114798"/>
                </a:lnTo>
                <a:lnTo>
                  <a:pt x="0" y="4114798"/>
                </a:lnTo>
                <a:close/>
              </a:path>
            </a:pathLst>
          </a:cu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098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800" strike="noStrike" noProof="1"/>
          </a:p>
        </p:txBody>
      </p:sp>
      <p:sp>
        <p:nvSpPr>
          <p:cNvPr id="64" name="矩形 63"/>
          <p:cNvSpPr/>
          <p:nvPr userDrawn="1"/>
        </p:nvSpPr>
        <p:spPr>
          <a:xfrm>
            <a:off x="0" y="1670050"/>
            <a:ext cx="12192000" cy="351790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292100" sx="102000" sy="102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2400" strike="noStrike" noProof="1"/>
          </a:p>
        </p:txBody>
      </p:sp>
      <p:sp>
        <p:nvSpPr>
          <p:cNvPr id="7" name="矩形 6"/>
          <p:cNvSpPr/>
          <p:nvPr userDrawn="1"/>
        </p:nvSpPr>
        <p:spPr>
          <a:xfrm>
            <a:off x="0" y="1776413"/>
            <a:ext cx="12192000" cy="33051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92100" sx="102000" sy="102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2400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任意多边形: 形状 59"/>
          <p:cNvSpPr/>
          <p:nvPr userDrawn="1"/>
        </p:nvSpPr>
        <p:spPr>
          <a:xfrm>
            <a:off x="1550988" y="0"/>
            <a:ext cx="10569575" cy="544513"/>
          </a:xfrm>
          <a:custGeom>
            <a:avLst/>
            <a:gdLst>
              <a:gd name="connsiteX0" fmla="*/ 0 w 2128198"/>
              <a:gd name="connsiteY0" fmla="*/ 0 h 544010"/>
              <a:gd name="connsiteX1" fmla="*/ 2128198 w 2128198"/>
              <a:gd name="connsiteY1" fmla="*/ 0 h 544010"/>
              <a:gd name="connsiteX2" fmla="*/ 2128198 w 2128198"/>
              <a:gd name="connsiteY2" fmla="*/ 544010 h 544010"/>
              <a:gd name="connsiteX3" fmla="*/ 0 w 2128198"/>
              <a:gd name="connsiteY3" fmla="*/ 544010 h 544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8198" h="544010">
                <a:moveTo>
                  <a:pt x="0" y="0"/>
                </a:moveTo>
                <a:lnTo>
                  <a:pt x="2128198" y="0"/>
                </a:lnTo>
                <a:lnTo>
                  <a:pt x="2128198" y="544010"/>
                </a:lnTo>
                <a:lnTo>
                  <a:pt x="0" y="544010"/>
                </a:lnTo>
                <a:close/>
              </a:path>
            </a:pathLst>
          </a:custGeom>
          <a:solidFill>
            <a:srgbClr val="00409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 fontAlgn="auto"/>
            <a:endParaRPr lang="zh-CN" altLang="en-US" sz="1800" strike="noStrike" noProof="1" dirty="0"/>
          </a:p>
        </p:txBody>
      </p:sp>
      <p:sp>
        <p:nvSpPr>
          <p:cNvPr id="3" name="矩形 2"/>
          <p:cNvSpPr/>
          <p:nvPr userDrawn="1"/>
        </p:nvSpPr>
        <p:spPr>
          <a:xfrm>
            <a:off x="0" y="542925"/>
            <a:ext cx="12192000" cy="63150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800" strike="noStrike" noProof="1"/>
          </a:p>
        </p:txBody>
      </p:sp>
      <p:sp>
        <p:nvSpPr>
          <p:cNvPr id="143" name="矩形 142"/>
          <p:cNvSpPr/>
          <p:nvPr userDrawn="1"/>
        </p:nvSpPr>
        <p:spPr>
          <a:xfrm>
            <a:off x="1341438" y="96838"/>
            <a:ext cx="107950" cy="350838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50800" dist="381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800" strike="noStrike" noProof="1"/>
          </a:p>
        </p:txBody>
      </p:sp>
      <p:sp>
        <p:nvSpPr>
          <p:cNvPr id="85" name="矩形 84"/>
          <p:cNvSpPr/>
          <p:nvPr userDrawn="1"/>
        </p:nvSpPr>
        <p:spPr>
          <a:xfrm>
            <a:off x="0" y="0"/>
            <a:ext cx="1377950" cy="544513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800" strike="noStrike" noProof="1"/>
          </a:p>
        </p:txBody>
      </p:sp>
      <p:sp>
        <p:nvSpPr>
          <p:cNvPr id="54" name="矩形 53"/>
          <p:cNvSpPr/>
          <p:nvPr userDrawn="1"/>
        </p:nvSpPr>
        <p:spPr>
          <a:xfrm>
            <a:off x="0" y="543601"/>
            <a:ext cx="12192000" cy="6314399"/>
          </a:xfrm>
          <a:prstGeom prst="rect">
            <a:avLst/>
          </a:prstGeom>
          <a:blipFill dpi="0" rotWithShape="1">
            <a:blip r:embed="rId2">
              <a:alphaModFix amt="7000"/>
            </a:blip>
            <a:srcRect/>
            <a:tile tx="0" ty="0" sx="100000" sy="100000" flip="none" algn="b"/>
          </a:blip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800" strike="noStrike" noProof="1"/>
          </a:p>
        </p:txBody>
      </p:sp>
      <p:sp>
        <p:nvSpPr>
          <p:cNvPr id="142" name="矩形 141"/>
          <p:cNvSpPr/>
          <p:nvPr userDrawn="1"/>
        </p:nvSpPr>
        <p:spPr>
          <a:xfrm>
            <a:off x="12120563" y="96838"/>
            <a:ext cx="71438" cy="350838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152400" dist="38100" dir="10800000" algn="r" rotWithShape="0">
              <a:srgbClr val="60080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800" strike="noStrike" noProof="1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150" name="直接连接符 149"/>
          <p:cNvCxnSpPr/>
          <p:nvPr userDrawn="1"/>
        </p:nvCxnSpPr>
        <p:spPr>
          <a:xfrm>
            <a:off x="515938" y="6489700"/>
            <a:ext cx="1116012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 userDrawn="1"/>
        </p:nvSpPr>
        <p:spPr>
          <a:xfrm>
            <a:off x="0" y="542925"/>
            <a:ext cx="12192000" cy="6315075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800" strike="noStrike" noProof="1"/>
          </a:p>
        </p:txBody>
      </p:sp>
      <p:pic>
        <p:nvPicPr>
          <p:cNvPr id="5130" name="图片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3863" y="26988"/>
            <a:ext cx="492125" cy="4905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31" name="图片 5"/>
          <p:cNvPicPr>
            <a:picLocks noChangeAspect="1"/>
          </p:cNvPicPr>
          <p:nvPr userDrawn="1"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10163175" y="123825"/>
            <a:ext cx="1841500" cy="292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551008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l">
              <a:buNone/>
              <a:defRPr lang="zh-CN" altLang="en-US" sz="2000" spc="300" dirty="0" smtClean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 algn="ctr" fontAlgn="auto"/>
            <a:endParaRPr lang="zh-CN" altLang="en-US" strike="noStrike" noProof="1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61663" y="6438900"/>
            <a:ext cx="914400" cy="290513"/>
          </a:xfrm>
          <a:prstGeom prst="rect">
            <a:avLst/>
          </a:prstGeom>
        </p:spPr>
        <p:txBody>
          <a:bodyPr vert="horz" lIns="91440" tIns="45720" rIns="0" bIns="45720" rtlCol="0" anchor="ctr">
            <a:normAutofit/>
          </a:bodyPr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fontAlgn="auto"/>
            <a:r>
              <a:rPr lang="zh-CN" altLang="en-US" strike="noStrike" noProof="1">
                <a:latin typeface="+mn-ea"/>
                <a:ea typeface="+mn-ea"/>
                <a:cs typeface="+mn-cs"/>
              </a:rPr>
              <a:t>  </a:t>
            </a:r>
            <a:r>
              <a:rPr lang="en-US" altLang="zh-CN" strike="noStrike" spc="90" noProof="1">
                <a:latin typeface="+mn-ea"/>
                <a:ea typeface="+mn-ea"/>
                <a:cs typeface="+mn-cs"/>
              </a:rPr>
              <a:t>Page </a:t>
            </a:r>
            <a:fld id="{7CFB1EEF-B761-4911-A2FD-18DBD3241D03}" type="slidenum">
              <a:rPr lang="zh-CN" altLang="en-US" strike="noStrike" spc="90" noProof="1" smtClean="0">
                <a:latin typeface="+mn-ea"/>
                <a:ea typeface="+mn-ea"/>
                <a:cs typeface="+mn-cs"/>
              </a:rPr>
            </a:fld>
            <a:endParaRPr lang="zh-CN" altLang="en-US" strike="noStrike" spc="90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098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800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 hasCustomPrompt="1"/>
          </p:nvPr>
        </p:nvSpPr>
        <p:spPr>
          <a:xfrm>
            <a:off x="680135" y="464249"/>
            <a:ext cx="10129035" cy="553998"/>
          </a:xfrm>
        </p:spPr>
        <p:txBody>
          <a:bodyPr>
            <a:normAutofit/>
          </a:bodyPr>
          <a:lstStyle>
            <a:lvl1pPr>
              <a:defRPr sz="3000" b="1">
                <a:solidFill>
                  <a:schemeClr val="tx2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 fontAlgn="auto"/>
            <a:r>
              <a:rPr lang="zh-CN" altLang="en-US" strike="noStrike" noProof="1" dirty="0"/>
              <a:t>输入内容标题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3" Type="http://schemas.openxmlformats.org/officeDocument/2006/relationships/theme" Target="../theme/theme1.xml"/><Relationship Id="rId22" Type="http://schemas.openxmlformats.org/officeDocument/2006/relationships/tags" Target="../tags/tag5.xml"/><Relationship Id="rId21" Type="http://schemas.openxmlformats.org/officeDocument/2006/relationships/tags" Target="../tags/tag4.xml"/><Relationship Id="rId20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2.xml"/><Relationship Id="rId18" Type="http://schemas.openxmlformats.org/officeDocument/2006/relationships/tags" Target="../tags/tag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0.xml"/><Relationship Id="rId23" Type="http://schemas.openxmlformats.org/officeDocument/2006/relationships/theme" Target="../theme/theme2.xml"/><Relationship Id="rId22" Type="http://schemas.openxmlformats.org/officeDocument/2006/relationships/tags" Target="../tags/tag10.xml"/><Relationship Id="rId21" Type="http://schemas.openxmlformats.org/officeDocument/2006/relationships/tags" Target="../tags/tag9.xml"/><Relationship Id="rId20" Type="http://schemas.openxmlformats.org/officeDocument/2006/relationships/tags" Target="../tags/tag8.xml"/><Relationship Id="rId2" Type="http://schemas.openxmlformats.org/officeDocument/2006/relationships/slideLayout" Target="../slideLayouts/slideLayout19.xml"/><Relationship Id="rId19" Type="http://schemas.openxmlformats.org/officeDocument/2006/relationships/tags" Target="../tags/tag7.xml"/><Relationship Id="rId18" Type="http://schemas.openxmlformats.org/officeDocument/2006/relationships/tags" Target="../tags/tag6.xml"/><Relationship Id="rId17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08013" y="608013"/>
            <a:ext cx="10969625" cy="706437"/>
          </a:xfrm>
          <a:prstGeom prst="rect">
            <a:avLst/>
          </a:prstGeom>
          <a:noFill/>
          <a:ln w="9525">
            <a:noFill/>
          </a:ln>
        </p:spPr>
        <p:txBody>
          <a:bodyPr vert="horz" lIns="90170" tIns="46990" rIns="90170" bIns="46990"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9"/>
            </p:custDataLst>
          </p:nvPr>
        </p:nvSpPr>
        <p:spPr>
          <a:xfrm>
            <a:off x="608013" y="1490663"/>
            <a:ext cx="10969625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0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1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2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08013" y="608013"/>
            <a:ext cx="10969625" cy="706437"/>
          </a:xfrm>
          <a:prstGeom prst="rect">
            <a:avLst/>
          </a:prstGeom>
          <a:noFill/>
          <a:ln w="9525">
            <a:noFill/>
          </a:ln>
        </p:spPr>
        <p:txBody>
          <a:bodyPr vert="horz" lIns="90170" tIns="46990" rIns="90170" bIns="46990"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9"/>
            </p:custDataLst>
          </p:nvPr>
        </p:nvSpPr>
        <p:spPr>
          <a:xfrm>
            <a:off x="608013" y="1490663"/>
            <a:ext cx="10969625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0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1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2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p:hf sldNum="0"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7.xml"/><Relationship Id="rId2" Type="http://schemas.openxmlformats.org/officeDocument/2006/relationships/image" Target="../media/image12.png"/><Relationship Id="rId1" Type="http://schemas.openxmlformats.org/officeDocument/2006/relationships/tags" Target="../tags/tag16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32.xml"/><Relationship Id="rId4" Type="http://schemas.openxmlformats.org/officeDocument/2006/relationships/tags" Target="../tags/tag19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tags" Target="../tags/tag18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1.xml"/><Relationship Id="rId2" Type="http://schemas.openxmlformats.org/officeDocument/2006/relationships/image" Target="../media/image15.png"/><Relationship Id="rId1" Type="http://schemas.openxmlformats.org/officeDocument/2006/relationships/tags" Target="../tags/tag20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32.xml"/><Relationship Id="rId3" Type="http://schemas.openxmlformats.org/officeDocument/2006/relationships/tags" Target="../tags/tag23.xml"/><Relationship Id="rId2" Type="http://schemas.openxmlformats.org/officeDocument/2006/relationships/image" Target="../media/image16.png"/><Relationship Id="rId1" Type="http://schemas.openxmlformats.org/officeDocument/2006/relationships/tags" Target="../tags/tag22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32.xml"/><Relationship Id="rId5" Type="http://schemas.openxmlformats.org/officeDocument/2006/relationships/tags" Target="../tags/tag25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tags" Target="../tags/tag24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27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tags" Target="../tags/tag26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32.xml"/><Relationship Id="rId5" Type="http://schemas.openxmlformats.org/officeDocument/2006/relationships/tags" Target="../tags/tag30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2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矩形 5"/>
          <p:cNvSpPr/>
          <p:nvPr>
            <p:custDataLst>
              <p:tags r:id="rId1"/>
            </p:custDataLst>
          </p:nvPr>
        </p:nvSpPr>
        <p:spPr>
          <a:xfrm>
            <a:off x="1306513" y="2644775"/>
            <a:ext cx="9652000" cy="1568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zh-CN" altLang="en-US" sz="4800" b="1" dirty="0">
                <a:solidFill>
                  <a:srgbClr val="004098"/>
                </a:solidFill>
                <a:latin typeface="微软雅黑" panose="020B0503020204020204" charset="-122"/>
                <a:ea typeface="微软雅黑" panose="020B0503020204020204" charset="-122"/>
              </a:rPr>
              <a:t>基于大模型提示词工程的综合化航电系统代码生成方法</a:t>
            </a:r>
            <a:endParaRPr lang="zh-CN" altLang="en-US" sz="4800" b="1" dirty="0">
              <a:solidFill>
                <a:srgbClr val="0040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94" name="矩形 6"/>
          <p:cNvSpPr/>
          <p:nvPr>
            <p:custDataLst>
              <p:tags r:id="rId2"/>
            </p:custDataLst>
          </p:nvPr>
        </p:nvSpPr>
        <p:spPr>
          <a:xfrm>
            <a:off x="7869238" y="4586288"/>
            <a:ext cx="309562" cy="3984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95" name="矩形 7"/>
          <p:cNvSpPr/>
          <p:nvPr>
            <p:custDataLst>
              <p:tags r:id="rId3"/>
            </p:custDataLst>
          </p:nvPr>
        </p:nvSpPr>
        <p:spPr>
          <a:xfrm>
            <a:off x="3179763" y="4533900"/>
            <a:ext cx="5834062" cy="10160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南京航空航天大学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计算机科学与技术学院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　汇报人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林畅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指导老师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杨志斌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周勇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2025.1.20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96" name="文本框 1"/>
          <p:cNvSpPr txBox="1"/>
          <p:nvPr/>
        </p:nvSpPr>
        <p:spPr>
          <a:xfrm>
            <a:off x="4786313" y="1938338"/>
            <a:ext cx="406400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: 圆角 54"/>
          <p:cNvSpPr/>
          <p:nvPr/>
        </p:nvSpPr>
        <p:spPr>
          <a:xfrm>
            <a:off x="0" y="557616"/>
            <a:ext cx="12192000" cy="3938070"/>
          </a:xfrm>
          <a:prstGeom prst="roundRect">
            <a:avLst>
              <a:gd name="adj" fmla="val 1126"/>
            </a:avLst>
          </a:prstGeom>
          <a:solidFill>
            <a:schemeClr val="bg1"/>
          </a:solidFill>
          <a:ln>
            <a:noFill/>
          </a:ln>
          <a:effectLst>
            <a:outerShdw blurRad="355600" dist="88900" dir="2700000" sx="98000" sy="98000" algn="tl" rotWithShape="0">
              <a:schemeClr val="tx2">
                <a:lumMod val="60000"/>
                <a:lumOff val="40000"/>
                <a:alpha val="1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lt1">
                    <a:alpha val="0"/>
                  </a:schemeClr>
                </a:solidFill>
              </a:rPr>
              <a:t>方能演亦</a:t>
            </a:r>
            <a:endParaRPr lang="zh-CN" altLang="en-US" sz="800" dirty="0">
              <a:solidFill>
                <a:schemeClr val="lt1">
                  <a:alpha val="0"/>
                </a:schemeClr>
              </a:solidFill>
            </a:endParaRPr>
          </a:p>
        </p:txBody>
      </p:sp>
      <p:sp>
        <p:nvSpPr>
          <p:cNvPr id="75" name="矩形: 圆角 74"/>
          <p:cNvSpPr/>
          <p:nvPr/>
        </p:nvSpPr>
        <p:spPr>
          <a:xfrm>
            <a:off x="0" y="3845559"/>
            <a:ext cx="8120254" cy="3012442"/>
          </a:xfrm>
          <a:prstGeom prst="roundRect">
            <a:avLst>
              <a:gd name="adj" fmla="val 11542"/>
            </a:avLst>
          </a:prstGeom>
          <a:gradFill flip="none" rotWithShape="1">
            <a:gsLst>
              <a:gs pos="15000">
                <a:schemeClr val="accent1">
                  <a:lumMod val="100000"/>
                </a:schemeClr>
              </a:gs>
              <a:gs pos="93000">
                <a:schemeClr val="accent2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lt1">
                    <a:alpha val="0"/>
                  </a:schemeClr>
                </a:solidFill>
              </a:rPr>
              <a:t>方能演亦</a:t>
            </a:r>
            <a:endParaRPr lang="zh-CN" altLang="en-US" sz="800" dirty="0">
              <a:solidFill>
                <a:schemeClr val="lt1">
                  <a:alpha val="0"/>
                </a:schemeClr>
              </a:solidFill>
            </a:endParaRPr>
          </a:p>
        </p:txBody>
      </p:sp>
      <p:sp>
        <p:nvSpPr>
          <p:cNvPr id="76" name="矩形: 圆角 75"/>
          <p:cNvSpPr/>
          <p:nvPr/>
        </p:nvSpPr>
        <p:spPr>
          <a:xfrm>
            <a:off x="93479" y="4560339"/>
            <a:ext cx="7923675" cy="1903451"/>
          </a:xfrm>
          <a:prstGeom prst="roundRect">
            <a:avLst>
              <a:gd name="adj" fmla="val 4471"/>
            </a:avLst>
          </a:prstGeom>
          <a:solidFill>
            <a:schemeClr val="bg1">
              <a:alpha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lt1">
                    <a:alpha val="0"/>
                  </a:schemeClr>
                </a:solidFill>
              </a:rPr>
              <a:t>方能演亦</a:t>
            </a:r>
            <a:endParaRPr lang="zh-CN" altLang="en-US" sz="800" dirty="0">
              <a:solidFill>
                <a:schemeClr val="lt1">
                  <a:alpha val="0"/>
                </a:schemeClr>
              </a:solidFill>
            </a:endParaRPr>
          </a:p>
        </p:txBody>
      </p:sp>
      <p:sp>
        <p:nvSpPr>
          <p:cNvPr id="93" name="矩形: 圆角 92"/>
          <p:cNvSpPr/>
          <p:nvPr/>
        </p:nvSpPr>
        <p:spPr>
          <a:xfrm>
            <a:off x="92958" y="5494721"/>
            <a:ext cx="7923676" cy="500727"/>
          </a:xfrm>
          <a:prstGeom prst="roundRect">
            <a:avLst>
              <a:gd name="adj" fmla="val 22355"/>
            </a:avLst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lt1">
                    <a:alpha val="0"/>
                  </a:schemeClr>
                </a:solidFill>
              </a:rPr>
              <a:t>方能演亦</a:t>
            </a:r>
            <a:endParaRPr lang="zh-CN" altLang="en-US" sz="800" dirty="0">
              <a:solidFill>
                <a:schemeClr val="lt1">
                  <a:alpha val="0"/>
                </a:schemeClr>
              </a:solidFill>
            </a:endParaRPr>
          </a:p>
        </p:txBody>
      </p:sp>
      <p:sp>
        <p:nvSpPr>
          <p:cNvPr id="92" name="矩形: 圆角 91"/>
          <p:cNvSpPr/>
          <p:nvPr/>
        </p:nvSpPr>
        <p:spPr>
          <a:xfrm>
            <a:off x="100031" y="4497590"/>
            <a:ext cx="7923675" cy="459173"/>
          </a:xfrm>
          <a:prstGeom prst="roundRect">
            <a:avLst>
              <a:gd name="adj" fmla="val 22355"/>
            </a:avLst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lt1">
                    <a:alpha val="0"/>
                  </a:schemeClr>
                </a:solidFill>
              </a:rPr>
              <a:t>方能演亦</a:t>
            </a:r>
            <a:endParaRPr lang="zh-CN" altLang="en-US" sz="800" dirty="0">
              <a:solidFill>
                <a:schemeClr val="lt1">
                  <a:alpha val="0"/>
                </a:schemeClr>
              </a:solidFill>
            </a:endParaRPr>
          </a:p>
        </p:txBody>
      </p:sp>
      <p:sp>
        <p:nvSpPr>
          <p:cNvPr id="33" name="矩形 32"/>
          <p:cNvSpPr/>
          <p:nvPr>
            <p:custDataLst>
              <p:tags r:id="rId1"/>
            </p:custDataLst>
          </p:nvPr>
        </p:nvSpPr>
        <p:spPr>
          <a:xfrm>
            <a:off x="1605357" y="35646"/>
            <a:ext cx="267208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研究背景与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动机</a:t>
            </a:r>
            <a:endParaRPr lang="zh-CN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9423544" y="739864"/>
            <a:ext cx="1801422" cy="2952000"/>
            <a:chOff x="9499601" y="1334626"/>
            <a:chExt cx="1801422" cy="3384427"/>
          </a:xfrm>
        </p:grpSpPr>
        <p:sp>
          <p:nvSpPr>
            <p:cNvPr id="28" name="矩形: 圆角 27"/>
            <p:cNvSpPr/>
            <p:nvPr/>
          </p:nvSpPr>
          <p:spPr>
            <a:xfrm>
              <a:off x="9499601" y="1334626"/>
              <a:ext cx="1801422" cy="557169"/>
            </a:xfrm>
            <a:prstGeom prst="roundRect">
              <a:avLst>
                <a:gd name="adj" fmla="val 7821"/>
              </a:avLst>
            </a:prstGeom>
            <a:gradFill flip="none" rotWithShape="1">
              <a:gsLst>
                <a:gs pos="23000">
                  <a:schemeClr val="accent1"/>
                </a:gs>
                <a:gs pos="100000">
                  <a:schemeClr val="accent1">
                    <a:lumMod val="50000"/>
                    <a:lumOff val="5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800" b="1" dirty="0">
                  <a:solidFill>
                    <a:srgbClr val="FFFFFF"/>
                  </a:solidFill>
                  <a:latin typeface="Helvetica"/>
                </a:rPr>
                <a:t>开发挑战</a:t>
              </a:r>
              <a:endParaRPr lang="zh-CN" altLang="en-US" sz="1800" b="1" dirty="0">
                <a:solidFill>
                  <a:srgbClr val="FFFFFF"/>
                </a:solidFill>
                <a:latin typeface="Helvetica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9499601" y="1961886"/>
              <a:ext cx="1801422" cy="2757167"/>
              <a:chOff x="9499601" y="1961886"/>
              <a:chExt cx="1801422" cy="2578977"/>
            </a:xfrm>
          </p:grpSpPr>
          <p:sp>
            <p:nvSpPr>
              <p:cNvPr id="30" name="矩形: 圆角 29"/>
              <p:cNvSpPr/>
              <p:nvPr/>
            </p:nvSpPr>
            <p:spPr>
              <a:xfrm>
                <a:off x="9499601" y="1961886"/>
                <a:ext cx="1801422" cy="557169"/>
              </a:xfrm>
              <a:prstGeom prst="roundRect">
                <a:avLst>
                  <a:gd name="adj" fmla="val 5181"/>
                </a:avLst>
              </a:prstGeom>
              <a:noFill/>
              <a:ln w="127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solidFill>
                      <a:schemeClr val="tx2">
                        <a:lumMod val="75000"/>
                      </a:schemeClr>
                    </a:solidFill>
                  </a:rPr>
                  <a:t>标准复杂</a:t>
                </a:r>
                <a:endParaRPr lang="zh-CN" altLang="en-US" sz="1400" b="1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1" name="矩形: 圆角 30"/>
              <p:cNvSpPr/>
              <p:nvPr/>
            </p:nvSpPr>
            <p:spPr>
              <a:xfrm>
                <a:off x="9499601" y="2635822"/>
                <a:ext cx="1801422" cy="557169"/>
              </a:xfrm>
              <a:prstGeom prst="roundRect">
                <a:avLst>
                  <a:gd name="adj" fmla="val 5181"/>
                </a:avLst>
              </a:prstGeom>
              <a:noFill/>
              <a:ln w="127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solidFill>
                      <a:schemeClr val="tx2">
                        <a:lumMod val="75000"/>
                      </a:schemeClr>
                    </a:solidFill>
                  </a:rPr>
                  <a:t>手工编码</a:t>
                </a:r>
                <a:endParaRPr lang="zh-CN" altLang="en-US" sz="1400" b="1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4" name="矩形: 圆角 33"/>
              <p:cNvSpPr/>
              <p:nvPr/>
            </p:nvSpPr>
            <p:spPr>
              <a:xfrm>
                <a:off x="9499601" y="3309758"/>
                <a:ext cx="1801422" cy="557169"/>
              </a:xfrm>
              <a:prstGeom prst="roundRect">
                <a:avLst>
                  <a:gd name="adj" fmla="val 5181"/>
                </a:avLst>
              </a:prstGeom>
              <a:noFill/>
              <a:ln w="127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solidFill>
                      <a:schemeClr val="tx2">
                        <a:lumMod val="75000"/>
                      </a:schemeClr>
                    </a:solidFill>
                  </a:rPr>
                  <a:t>容易出错</a:t>
                </a:r>
                <a:endParaRPr lang="zh-CN" altLang="en-US" sz="1400" b="1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5" name="矩形: 圆角 34"/>
              <p:cNvSpPr/>
              <p:nvPr/>
            </p:nvSpPr>
            <p:spPr>
              <a:xfrm>
                <a:off x="9499601" y="3983694"/>
                <a:ext cx="1801422" cy="557169"/>
              </a:xfrm>
              <a:prstGeom prst="roundRect">
                <a:avLst>
                  <a:gd name="adj" fmla="val 5181"/>
                </a:avLst>
              </a:prstGeom>
              <a:noFill/>
              <a:ln w="127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solidFill>
                      <a:schemeClr val="tx2">
                        <a:lumMod val="75000"/>
                      </a:schemeClr>
                    </a:solidFill>
                  </a:rPr>
                  <a:t>专业门槛高</a:t>
                </a:r>
                <a:endParaRPr lang="zh-CN" altLang="en-US" sz="1400" b="1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p:grpSp>
      </p:grpSp>
      <p:grpSp>
        <p:nvGrpSpPr>
          <p:cNvPr id="36" name="组合 35"/>
          <p:cNvGrpSpPr/>
          <p:nvPr/>
        </p:nvGrpSpPr>
        <p:grpSpPr>
          <a:xfrm>
            <a:off x="285049" y="906653"/>
            <a:ext cx="8985532" cy="1440000"/>
            <a:chOff x="890978" y="1336899"/>
            <a:chExt cx="8985532" cy="1342791"/>
          </a:xfrm>
        </p:grpSpPr>
        <p:sp>
          <p:nvSpPr>
            <p:cNvPr id="37" name="矩形: 圆角 36"/>
            <p:cNvSpPr/>
            <p:nvPr/>
          </p:nvSpPr>
          <p:spPr>
            <a:xfrm>
              <a:off x="3217604" y="1482496"/>
              <a:ext cx="1165988" cy="384326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88000"/>
              </a:schemeClr>
            </a:solidFill>
            <a:ln w="12700">
              <a:solidFill>
                <a:schemeClr val="bg1"/>
              </a:solidFill>
            </a:ln>
            <a:effectLst>
              <a:outerShdw blurRad="292100" dist="76200" dir="5400000" algn="t" rotWithShape="0">
                <a:schemeClr val="accent1">
                  <a:lumMod val="60000"/>
                  <a:lumOff val="40000"/>
                  <a:alpha val="27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 dirty="0">
                  <a:solidFill>
                    <a:schemeClr val="tx2"/>
                  </a:solidFill>
                </a:rPr>
                <a:t>导航</a:t>
              </a:r>
              <a:endParaRPr lang="zh-CN" alt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38" name="矩形: 圆角 37"/>
            <p:cNvSpPr/>
            <p:nvPr/>
          </p:nvSpPr>
          <p:spPr>
            <a:xfrm>
              <a:off x="3217604" y="2032591"/>
              <a:ext cx="1165988" cy="384326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88000"/>
              </a:schemeClr>
            </a:solidFill>
            <a:ln w="12700">
              <a:solidFill>
                <a:schemeClr val="bg1"/>
              </a:solidFill>
            </a:ln>
            <a:effectLst>
              <a:outerShdw blurRad="292100" dist="76200" dir="5400000" algn="t" rotWithShape="0">
                <a:schemeClr val="accent1">
                  <a:lumMod val="60000"/>
                  <a:lumOff val="40000"/>
                  <a:alpha val="27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 dirty="0">
                  <a:solidFill>
                    <a:schemeClr val="tx2"/>
                  </a:solidFill>
                </a:rPr>
                <a:t>飞控</a:t>
              </a:r>
              <a:endParaRPr lang="zh-CN" alt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39" name="矩形: 圆角 38"/>
            <p:cNvSpPr/>
            <p:nvPr/>
          </p:nvSpPr>
          <p:spPr>
            <a:xfrm>
              <a:off x="4443135" y="1482496"/>
              <a:ext cx="1165988" cy="384326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88000"/>
              </a:schemeClr>
            </a:solidFill>
            <a:ln w="12700">
              <a:solidFill>
                <a:schemeClr val="bg1"/>
              </a:solidFill>
            </a:ln>
            <a:effectLst>
              <a:outerShdw blurRad="292100" dist="76200" dir="5400000" algn="t" rotWithShape="0">
                <a:schemeClr val="accent1">
                  <a:lumMod val="60000"/>
                  <a:lumOff val="40000"/>
                  <a:alpha val="27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 dirty="0">
                  <a:solidFill>
                    <a:schemeClr val="tx2"/>
                  </a:solidFill>
                </a:rPr>
                <a:t>通信</a:t>
              </a:r>
              <a:endParaRPr lang="zh-CN" alt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40" name="矩形: 圆角 39"/>
            <p:cNvSpPr/>
            <p:nvPr/>
          </p:nvSpPr>
          <p:spPr>
            <a:xfrm>
              <a:off x="4493526" y="2032591"/>
              <a:ext cx="1165988" cy="384326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88000"/>
              </a:schemeClr>
            </a:solidFill>
            <a:ln w="12700">
              <a:solidFill>
                <a:schemeClr val="bg1"/>
              </a:solidFill>
            </a:ln>
            <a:effectLst>
              <a:outerShdw blurRad="292100" dist="76200" dir="5400000" algn="t" rotWithShape="0">
                <a:schemeClr val="accent1">
                  <a:lumMod val="60000"/>
                  <a:lumOff val="40000"/>
                  <a:alpha val="27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 dirty="0">
                  <a:solidFill>
                    <a:schemeClr val="tx2"/>
                  </a:solidFill>
                </a:rPr>
                <a:t>显示</a:t>
              </a:r>
              <a:endParaRPr lang="zh-CN" alt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41" name="矩形: 圆角 40"/>
            <p:cNvSpPr/>
            <p:nvPr/>
          </p:nvSpPr>
          <p:spPr>
            <a:xfrm>
              <a:off x="7073907" y="1507553"/>
              <a:ext cx="1165988" cy="384326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88000"/>
              </a:schemeClr>
            </a:solidFill>
            <a:ln w="12700">
              <a:solidFill>
                <a:schemeClr val="bg1"/>
              </a:solidFill>
            </a:ln>
            <a:effectLst>
              <a:outerShdw blurRad="292100" dist="76200" dir="5400000" algn="t" rotWithShape="0">
                <a:schemeClr val="accent1">
                  <a:lumMod val="60000"/>
                  <a:lumOff val="40000"/>
                  <a:alpha val="27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 dirty="0">
                  <a:solidFill>
                    <a:schemeClr val="tx2"/>
                  </a:solidFill>
                </a:rPr>
                <a:t>时间分区</a:t>
              </a:r>
              <a:endParaRPr lang="zh-CN" alt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42" name="矩形: 圆角 41"/>
            <p:cNvSpPr/>
            <p:nvPr/>
          </p:nvSpPr>
          <p:spPr>
            <a:xfrm>
              <a:off x="7073907" y="2080139"/>
              <a:ext cx="1165988" cy="384326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88000"/>
              </a:schemeClr>
            </a:solidFill>
            <a:ln w="12700">
              <a:solidFill>
                <a:schemeClr val="bg1"/>
              </a:solidFill>
            </a:ln>
            <a:effectLst>
              <a:outerShdw blurRad="292100" dist="76200" dir="5400000" algn="t" rotWithShape="0">
                <a:schemeClr val="accent1">
                  <a:lumMod val="60000"/>
                  <a:lumOff val="40000"/>
                  <a:alpha val="27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 dirty="0">
                  <a:solidFill>
                    <a:schemeClr val="tx2"/>
                  </a:solidFill>
                </a:rPr>
                <a:t>空间分区</a:t>
              </a:r>
              <a:endParaRPr lang="zh-CN" altLang="en-US" sz="1400" dirty="0">
                <a:solidFill>
                  <a:schemeClr val="tx2"/>
                </a:solidFill>
              </a:endParaRPr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890978" y="1336899"/>
              <a:ext cx="8985532" cy="1342791"/>
              <a:chOff x="890978" y="1336899"/>
              <a:chExt cx="8985532" cy="1342791"/>
            </a:xfrm>
          </p:grpSpPr>
          <p:sp>
            <p:nvSpPr>
              <p:cNvPr id="44" name="矩形: 圆角 43"/>
              <p:cNvSpPr/>
              <p:nvPr/>
            </p:nvSpPr>
            <p:spPr>
              <a:xfrm>
                <a:off x="890978" y="1346522"/>
                <a:ext cx="1246384" cy="1333168"/>
              </a:xfrm>
              <a:prstGeom prst="roundRect">
                <a:avLst>
                  <a:gd name="adj" fmla="val 3653"/>
                </a:avLst>
              </a:prstGeom>
              <a:gradFill flip="none" rotWithShape="1">
                <a:gsLst>
                  <a:gs pos="23000">
                    <a:schemeClr val="accent1"/>
                  </a:gs>
                  <a:gs pos="100000">
                    <a:schemeClr val="accent1">
                      <a:lumMod val="50000"/>
                      <a:lumOff val="5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800" b="1" dirty="0">
                    <a:solidFill>
                      <a:srgbClr val="FFFFFF"/>
                    </a:solidFill>
                    <a:latin typeface="Helvetica"/>
                  </a:rPr>
                  <a:t>IMA</a:t>
                </a:r>
                <a:endParaRPr lang="en-US" altLang="zh-CN" sz="1800" b="1" dirty="0">
                  <a:solidFill>
                    <a:srgbClr val="FFFFFF"/>
                  </a:solidFill>
                  <a:latin typeface="Helvetica"/>
                </a:endParaRPr>
              </a:p>
              <a:p>
                <a:pPr algn="ctr"/>
                <a:r>
                  <a:rPr lang="zh-CN" altLang="en-US" sz="1800" b="1" dirty="0">
                    <a:solidFill>
                      <a:srgbClr val="FFFFFF"/>
                    </a:solidFill>
                    <a:latin typeface="Helvetica"/>
                  </a:rPr>
                  <a:t>系统架构</a:t>
                </a:r>
                <a:endParaRPr lang="zh-CN" altLang="en-US" sz="1800" b="1" dirty="0">
                  <a:solidFill>
                    <a:srgbClr val="FFFFFF"/>
                  </a:solidFill>
                  <a:latin typeface="Helvetica"/>
                </a:endParaRPr>
              </a:p>
            </p:txBody>
          </p:sp>
          <p:sp>
            <p:nvSpPr>
              <p:cNvPr id="45" name="矩形: 圆角 44"/>
              <p:cNvSpPr/>
              <p:nvPr/>
            </p:nvSpPr>
            <p:spPr>
              <a:xfrm>
                <a:off x="2315491" y="1336899"/>
                <a:ext cx="3438702" cy="1333168"/>
              </a:xfrm>
              <a:prstGeom prst="roundRect">
                <a:avLst>
                  <a:gd name="adj" fmla="val 5181"/>
                </a:avLst>
              </a:prstGeom>
              <a:noFill/>
              <a:ln w="127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400" b="1" dirty="0">
                    <a:solidFill>
                      <a:schemeClr val="tx2">
                        <a:lumMod val="75000"/>
                      </a:schemeClr>
                    </a:solidFill>
                  </a:rPr>
                  <a:t>应用软件</a:t>
                </a:r>
                <a:endParaRPr lang="zh-CN" altLang="en-US" sz="1400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6" name="矩形: 圆角 45"/>
              <p:cNvSpPr/>
              <p:nvPr/>
            </p:nvSpPr>
            <p:spPr>
              <a:xfrm>
                <a:off x="5813736" y="1336899"/>
                <a:ext cx="2585197" cy="1333168"/>
              </a:xfrm>
              <a:prstGeom prst="roundRect">
                <a:avLst>
                  <a:gd name="adj" fmla="val 5181"/>
                </a:avLst>
              </a:prstGeom>
              <a:noFill/>
              <a:ln w="127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zh-CN" sz="1400" b="1" dirty="0">
                    <a:solidFill>
                      <a:schemeClr val="tx2">
                        <a:lumMod val="75000"/>
                      </a:schemeClr>
                    </a:solidFill>
                  </a:rPr>
                  <a:t>ARINC653</a:t>
                </a:r>
                <a:endParaRPr lang="en-US" altLang="zh-CN" sz="1400" b="1" dirty="0">
                  <a:solidFill>
                    <a:schemeClr val="tx2">
                      <a:lumMod val="75000"/>
                    </a:schemeClr>
                  </a:solidFill>
                </a:endParaRPr>
              </a:p>
              <a:p>
                <a:r>
                  <a:rPr lang="zh-CN" altLang="en-US" sz="1400" b="1" dirty="0">
                    <a:solidFill>
                      <a:schemeClr val="tx2">
                        <a:lumMod val="75000"/>
                      </a:schemeClr>
                    </a:solidFill>
                  </a:rPr>
                  <a:t>分区操作系统 </a:t>
                </a:r>
                <a:endParaRPr lang="zh-CN" altLang="en-US" sz="1400" b="1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7" name="矩形: 圆角 46"/>
              <p:cNvSpPr/>
              <p:nvPr/>
            </p:nvSpPr>
            <p:spPr>
              <a:xfrm>
                <a:off x="8551896" y="1336899"/>
                <a:ext cx="1324614" cy="1333168"/>
              </a:xfrm>
              <a:prstGeom prst="roundRect">
                <a:avLst>
                  <a:gd name="adj" fmla="val 5181"/>
                </a:avLst>
              </a:prstGeom>
              <a:noFill/>
              <a:ln w="127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400" b="1" dirty="0">
                    <a:solidFill>
                      <a:schemeClr val="tx2">
                        <a:lumMod val="75000"/>
                      </a:schemeClr>
                    </a:solidFill>
                  </a:rPr>
                  <a:t>通用硬件平台</a:t>
                </a:r>
                <a:endParaRPr lang="zh-CN" altLang="en-US" sz="1400" b="1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p:grpSp>
      </p:grpSp>
      <p:grpSp>
        <p:nvGrpSpPr>
          <p:cNvPr id="48" name="组合 47"/>
          <p:cNvGrpSpPr/>
          <p:nvPr/>
        </p:nvGrpSpPr>
        <p:grpSpPr>
          <a:xfrm>
            <a:off x="285048" y="2647864"/>
            <a:ext cx="8985533" cy="1044000"/>
            <a:chOff x="890977" y="2795765"/>
            <a:chExt cx="8985533" cy="980760"/>
          </a:xfrm>
        </p:grpSpPr>
        <p:grpSp>
          <p:nvGrpSpPr>
            <p:cNvPr id="49" name="组合 48"/>
            <p:cNvGrpSpPr/>
            <p:nvPr/>
          </p:nvGrpSpPr>
          <p:grpSpPr>
            <a:xfrm>
              <a:off x="890977" y="2795765"/>
              <a:ext cx="7031148" cy="980760"/>
              <a:chOff x="890978" y="2784778"/>
              <a:chExt cx="6729529" cy="980760"/>
            </a:xfrm>
          </p:grpSpPr>
          <p:sp>
            <p:nvSpPr>
              <p:cNvPr id="51" name="矩形: 圆角 50"/>
              <p:cNvSpPr/>
              <p:nvPr/>
            </p:nvSpPr>
            <p:spPr>
              <a:xfrm>
                <a:off x="890978" y="2784778"/>
                <a:ext cx="1192917" cy="980760"/>
              </a:xfrm>
              <a:prstGeom prst="roundRect">
                <a:avLst>
                  <a:gd name="adj" fmla="val 4443"/>
                </a:avLst>
              </a:prstGeom>
              <a:gradFill flip="none" rotWithShape="1">
                <a:gsLst>
                  <a:gs pos="23000">
                    <a:schemeClr val="accent1"/>
                  </a:gs>
                  <a:gs pos="100000">
                    <a:schemeClr val="accent1">
                      <a:lumMod val="50000"/>
                      <a:lumOff val="5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800" b="1" dirty="0">
                    <a:solidFill>
                      <a:srgbClr val="FFFFFF"/>
                    </a:solidFill>
                    <a:latin typeface="Helvetica"/>
                  </a:rPr>
                  <a:t>IMA</a:t>
                </a:r>
                <a:r>
                  <a:rPr lang="zh-CN" altLang="en-US" sz="1800" b="1" dirty="0">
                    <a:solidFill>
                      <a:srgbClr val="FFFFFF"/>
                    </a:solidFill>
                    <a:latin typeface="Helvetica"/>
                  </a:rPr>
                  <a:t>系统特点</a:t>
                </a:r>
                <a:endParaRPr lang="zh-CN" altLang="en-US" sz="1800" b="1" dirty="0">
                  <a:solidFill>
                    <a:srgbClr val="FFFFFF"/>
                  </a:solidFill>
                  <a:latin typeface="Helvetica"/>
                </a:endParaRPr>
              </a:p>
            </p:txBody>
          </p:sp>
          <p:sp>
            <p:nvSpPr>
              <p:cNvPr id="52" name="矩形: 圆角 51"/>
              <p:cNvSpPr/>
              <p:nvPr/>
            </p:nvSpPr>
            <p:spPr>
              <a:xfrm>
                <a:off x="2196888" y="2789471"/>
                <a:ext cx="1702294" cy="971374"/>
              </a:xfrm>
              <a:prstGeom prst="roundRect">
                <a:avLst>
                  <a:gd name="adj" fmla="val 4486"/>
                </a:avLst>
              </a:prstGeom>
              <a:noFill/>
              <a:ln w="127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tx2">
                        <a:lumMod val="75000"/>
                      </a:schemeClr>
                    </a:solidFill>
                  </a:rPr>
                  <a:t>多应用集成</a:t>
                </a:r>
                <a:endParaRPr lang="en-US" altLang="zh-CN" sz="1400" dirty="0">
                  <a:solidFill>
                    <a:schemeClr val="tx2">
                      <a:lumMod val="75000"/>
                    </a:schemeClr>
                  </a:solidFill>
                </a:endParaRPr>
              </a:p>
              <a:p>
                <a:pPr algn="ctr"/>
                <a:r>
                  <a:rPr lang="zh-CN" altLang="en-US" sz="1400" dirty="0">
                    <a:solidFill>
                      <a:schemeClr val="tx2">
                        <a:lumMod val="75000"/>
                      </a:schemeClr>
                    </a:solidFill>
                  </a:rPr>
                  <a:t>在统一硬件平台</a:t>
                </a:r>
                <a:endParaRPr lang="zh-CN" altLang="en-US" sz="1400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3" name="矩形: 圆角 52"/>
              <p:cNvSpPr/>
              <p:nvPr/>
            </p:nvSpPr>
            <p:spPr>
              <a:xfrm>
                <a:off x="3997983" y="2789471"/>
                <a:ext cx="1799578" cy="971374"/>
              </a:xfrm>
              <a:prstGeom prst="roundRect">
                <a:avLst>
                  <a:gd name="adj" fmla="val 4486"/>
                </a:avLst>
              </a:prstGeom>
              <a:noFill/>
              <a:ln w="127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tx2">
                        <a:lumMod val="75000"/>
                      </a:schemeClr>
                    </a:solidFill>
                  </a:rPr>
                  <a:t>严格的时间</a:t>
                </a:r>
                <a:endParaRPr lang="en-US" altLang="zh-CN" sz="1400" dirty="0">
                  <a:solidFill>
                    <a:schemeClr val="tx2">
                      <a:lumMod val="75000"/>
                    </a:schemeClr>
                  </a:solidFill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tx2">
                        <a:lumMod val="75000"/>
                      </a:schemeClr>
                    </a:solidFill>
                  </a:rPr>
                  <a:t>和空间隔离</a:t>
                </a:r>
                <a:endParaRPr lang="zh-CN" altLang="en-US" sz="1400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4" name="矩形: 圆角 53"/>
              <p:cNvSpPr/>
              <p:nvPr/>
            </p:nvSpPr>
            <p:spPr>
              <a:xfrm>
                <a:off x="5896362" y="2789471"/>
                <a:ext cx="1724145" cy="971374"/>
              </a:xfrm>
              <a:prstGeom prst="roundRect">
                <a:avLst>
                  <a:gd name="adj" fmla="val 4486"/>
                </a:avLst>
              </a:prstGeom>
              <a:noFill/>
              <a:ln w="127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tx2">
                        <a:lumMod val="75000"/>
                      </a:schemeClr>
                    </a:solidFill>
                  </a:rPr>
                  <a:t>不同安全等级</a:t>
                </a:r>
                <a:endParaRPr lang="en-US" altLang="zh-CN" sz="1400" dirty="0">
                  <a:solidFill>
                    <a:schemeClr val="tx2">
                      <a:lumMod val="75000"/>
                    </a:schemeClr>
                  </a:solidFill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tx2">
                        <a:lumMod val="75000"/>
                      </a:schemeClr>
                    </a:solidFill>
                  </a:rPr>
                  <a:t>应用共存</a:t>
                </a:r>
                <a:endParaRPr lang="zh-CN" altLang="en-US" sz="1400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50" name="矩形: 圆角 49"/>
            <p:cNvSpPr/>
            <p:nvPr/>
          </p:nvSpPr>
          <p:spPr>
            <a:xfrm>
              <a:off x="8075088" y="2800458"/>
              <a:ext cx="1801422" cy="971374"/>
            </a:xfrm>
            <a:prstGeom prst="roundRect">
              <a:avLst>
                <a:gd name="adj" fmla="val 4486"/>
              </a:avLst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zh-CN" sz="1400" dirty="0">
                  <a:solidFill>
                    <a:schemeClr val="tx2">
                      <a:lumMod val="75000"/>
                    </a:schemeClr>
                  </a:solidFill>
                </a:rPr>
                <a:t>......</a:t>
              </a:r>
              <a:endParaRPr lang="zh-CN" altLang="en-US" sz="1400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</p:grpSp>
      <p:sp>
        <p:nvSpPr>
          <p:cNvPr id="77" name="文本框 76"/>
          <p:cNvSpPr txBox="1"/>
          <p:nvPr/>
        </p:nvSpPr>
        <p:spPr>
          <a:xfrm>
            <a:off x="243706" y="4003396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800" dirty="0">
                <a:solidFill>
                  <a:schemeClr val="bg1"/>
                </a:solidFill>
              </a:rPr>
              <a:t>流程阶段</a:t>
            </a:r>
            <a:endParaRPr lang="zh-CN" altLang="en-US" sz="1800" dirty="0">
              <a:solidFill>
                <a:schemeClr val="bg1"/>
              </a:solidFill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1532844" y="4003396"/>
            <a:ext cx="15696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800" dirty="0">
                <a:solidFill>
                  <a:schemeClr val="bg1"/>
                </a:solidFill>
              </a:rPr>
              <a:t>传统流程开发</a:t>
            </a:r>
            <a:endParaRPr lang="zh-CN" altLang="en-US" sz="1800" dirty="0">
              <a:solidFill>
                <a:schemeClr val="bg1"/>
              </a:solidFill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283530" y="4585901"/>
            <a:ext cx="100540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</a:rPr>
              <a:t>需求分析</a:t>
            </a:r>
            <a:endParaRPr lang="zh-CN" altLang="en-US" sz="1600" dirty="0">
              <a:solidFill>
                <a:schemeClr val="tx2"/>
              </a:solidFill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77566" y="5076870"/>
            <a:ext cx="100540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</a:rPr>
              <a:t>代码编写</a:t>
            </a:r>
            <a:endParaRPr lang="zh-CN" altLang="en-US" sz="1600" dirty="0">
              <a:solidFill>
                <a:schemeClr val="tx2"/>
              </a:solidFill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277566" y="5584287"/>
            <a:ext cx="100540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</a:rPr>
              <a:t>标准符合</a:t>
            </a:r>
            <a:endParaRPr lang="zh-CN" altLang="en-US" sz="1600" dirty="0">
              <a:solidFill>
                <a:schemeClr val="tx2"/>
              </a:solidFill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271013" y="6092928"/>
            <a:ext cx="100540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</a:rPr>
              <a:t>迭代优化</a:t>
            </a:r>
            <a:endParaRPr lang="zh-CN" altLang="en-US" sz="1600" dirty="0">
              <a:solidFill>
                <a:schemeClr val="tx2"/>
              </a:solidFill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1597875" y="4585901"/>
            <a:ext cx="305724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600" b="1" dirty="0">
                <a:gradFill>
                  <a:gsLst>
                    <a:gs pos="0">
                      <a:schemeClr val="accent2"/>
                    </a:gs>
                    <a:gs pos="93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</a:rPr>
              <a:t>手动解读文档，转化为代码规范</a:t>
            </a:r>
            <a:endParaRPr lang="zh-CN" altLang="en-US" sz="1600" b="1" dirty="0">
              <a:gradFill>
                <a:gsLst>
                  <a:gs pos="0">
                    <a:schemeClr val="accent2"/>
                  </a:gs>
                  <a:gs pos="93000">
                    <a:schemeClr val="accent1"/>
                  </a:gs>
                </a:gsLst>
                <a:path path="circle">
                  <a:fillToRect r="100000" b="100000"/>
                </a:path>
              </a:gradFill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1597875" y="5076870"/>
            <a:ext cx="26468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600" b="1" dirty="0">
                <a:gradFill>
                  <a:gsLst>
                    <a:gs pos="0">
                      <a:schemeClr val="accent2"/>
                    </a:gs>
                    <a:gs pos="93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</a:rPr>
              <a:t>工程师手动编写每一行代码</a:t>
            </a:r>
            <a:endParaRPr lang="zh-CN" altLang="en-US" sz="1600" b="1" dirty="0">
              <a:gradFill>
                <a:gsLst>
                  <a:gs pos="0">
                    <a:schemeClr val="accent2"/>
                  </a:gs>
                  <a:gs pos="93000">
                    <a:schemeClr val="accent1"/>
                  </a:gs>
                </a:gsLst>
                <a:path path="circle">
                  <a:fillToRect r="100000" b="100000"/>
                </a:path>
              </a:gradFill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1597875" y="5584287"/>
            <a:ext cx="203132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600" b="1" dirty="0">
                <a:gradFill>
                  <a:gsLst>
                    <a:gs pos="0">
                      <a:schemeClr val="accent2"/>
                    </a:gs>
                    <a:gs pos="93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</a:rPr>
              <a:t>人工检查标准符合性</a:t>
            </a:r>
            <a:endParaRPr lang="zh-CN" altLang="en-US" sz="1600" b="1" dirty="0">
              <a:gradFill>
                <a:gsLst>
                  <a:gs pos="0">
                    <a:schemeClr val="accent2"/>
                  </a:gs>
                  <a:gs pos="93000">
                    <a:schemeClr val="accent1"/>
                  </a:gs>
                </a:gsLst>
                <a:path path="circle">
                  <a:fillToRect r="100000" b="100000"/>
                </a:path>
              </a:gradFill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1591322" y="6092928"/>
            <a:ext cx="141577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600" b="1" dirty="0">
                <a:gradFill>
                  <a:gsLst>
                    <a:gs pos="0">
                      <a:schemeClr val="accent2"/>
                    </a:gs>
                    <a:gs pos="93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</a:rPr>
              <a:t>手动调试修改</a:t>
            </a:r>
            <a:endParaRPr lang="zh-CN" altLang="en-US" sz="1600" b="1" dirty="0">
              <a:gradFill>
                <a:gsLst>
                  <a:gs pos="0">
                    <a:schemeClr val="accent2"/>
                  </a:gs>
                  <a:gs pos="93000">
                    <a:schemeClr val="accent1"/>
                  </a:gs>
                </a:gsLst>
                <a:path path="circle">
                  <a:fillToRect r="100000" b="100000"/>
                </a:path>
              </a:gradFill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4928424" y="4003396"/>
            <a:ext cx="15696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800" dirty="0">
                <a:solidFill>
                  <a:schemeClr val="bg1"/>
                </a:solidFill>
              </a:rPr>
              <a:t>LLM</a:t>
            </a:r>
            <a:r>
              <a:rPr lang="zh-CN" altLang="en-US" sz="1800" dirty="0">
                <a:solidFill>
                  <a:schemeClr val="bg1"/>
                </a:solidFill>
              </a:rPr>
              <a:t>辅助开发</a:t>
            </a:r>
            <a:endParaRPr lang="zh-CN" altLang="en-US" sz="1800" dirty="0">
              <a:solidFill>
                <a:schemeClr val="bg1"/>
              </a:solidFill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4674931" y="4565437"/>
            <a:ext cx="305724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b="1" dirty="0">
                <a:gradFill>
                  <a:gsLst>
                    <a:gs pos="0">
                      <a:schemeClr val="accent2"/>
                    </a:gs>
                    <a:gs pos="93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</a:rPr>
              <a:t>LLM</a:t>
            </a:r>
            <a:r>
              <a:rPr lang="zh-CN" altLang="en-US" sz="1600" b="1" dirty="0">
                <a:gradFill>
                  <a:gsLst>
                    <a:gs pos="0">
                      <a:schemeClr val="accent2"/>
                    </a:gs>
                    <a:gs pos="93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</a:rPr>
              <a:t>理解需求，自动识别功能点</a:t>
            </a:r>
            <a:endParaRPr lang="zh-CN" altLang="en-US" sz="1600" b="1" dirty="0">
              <a:gradFill>
                <a:gsLst>
                  <a:gs pos="0">
                    <a:schemeClr val="accent2"/>
                  </a:gs>
                  <a:gs pos="93000">
                    <a:schemeClr val="accent1"/>
                  </a:gs>
                </a:gsLst>
                <a:path path="circle">
                  <a:fillToRect r="100000" b="100000"/>
                </a:path>
              </a:gradFill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4686152" y="5098472"/>
            <a:ext cx="327365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b="1" dirty="0">
                <a:gradFill>
                  <a:gsLst>
                    <a:gs pos="0">
                      <a:schemeClr val="accent2"/>
                    </a:gs>
                    <a:gs pos="93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</a:rPr>
              <a:t>LLM</a:t>
            </a:r>
            <a:r>
              <a:rPr lang="zh-CN" altLang="en-US" sz="1600" b="1" dirty="0">
                <a:gradFill>
                  <a:gsLst>
                    <a:gs pos="0">
                      <a:schemeClr val="accent2"/>
                    </a:gs>
                    <a:gs pos="93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</a:rPr>
              <a:t>根据提示词自动生成代码框架</a:t>
            </a:r>
            <a:endParaRPr lang="zh-CN" altLang="en-US" sz="1600" b="1" dirty="0">
              <a:gradFill>
                <a:gsLst>
                  <a:gs pos="0">
                    <a:schemeClr val="accent2"/>
                  </a:gs>
                  <a:gs pos="93000">
                    <a:schemeClr val="accent1"/>
                  </a:gs>
                </a:gsLst>
                <a:path path="circle">
                  <a:fillToRect r="100000" b="100000"/>
                </a:path>
              </a:gra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4686152" y="5605889"/>
            <a:ext cx="326243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600" b="1" dirty="0">
                <a:gradFill>
                  <a:gsLst>
                    <a:gs pos="0">
                      <a:schemeClr val="accent2"/>
                    </a:gs>
                    <a:gs pos="93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</a:rPr>
              <a:t>提示词内嵌标准规范，生成即符合</a:t>
            </a:r>
            <a:endParaRPr lang="zh-CN" altLang="en-US" sz="1600" b="1" dirty="0">
              <a:gradFill>
                <a:gsLst>
                  <a:gs pos="0">
                    <a:schemeClr val="accent2"/>
                  </a:gs>
                  <a:gs pos="93000">
                    <a:schemeClr val="accent1"/>
                  </a:gs>
                </a:gsLst>
                <a:path path="circle">
                  <a:fillToRect r="100000" b="100000"/>
                </a:path>
              </a:gradFill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4668378" y="6073150"/>
            <a:ext cx="305724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600" b="1" dirty="0">
                <a:gradFill>
                  <a:gsLst>
                    <a:gs pos="0">
                      <a:schemeClr val="accent2"/>
                    </a:gs>
                    <a:gs pos="93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</a:rPr>
              <a:t>基于反馈自动优化提示重新生成</a:t>
            </a:r>
            <a:endParaRPr lang="zh-CN" altLang="en-US" sz="1600" b="1" dirty="0">
              <a:gradFill>
                <a:gsLst>
                  <a:gs pos="0">
                    <a:schemeClr val="accent2"/>
                  </a:gs>
                  <a:gs pos="93000">
                    <a:schemeClr val="accent1"/>
                  </a:gs>
                </a:gsLst>
                <a:path path="circle">
                  <a:fillToRect r="100000" b="100000"/>
                </a:path>
              </a:gradFill>
            </a:endParaRPr>
          </a:p>
        </p:txBody>
      </p:sp>
      <p:sp>
        <p:nvSpPr>
          <p:cNvPr id="94" name="矩形: 圆角 93"/>
          <p:cNvSpPr/>
          <p:nvPr/>
        </p:nvSpPr>
        <p:spPr>
          <a:xfrm>
            <a:off x="8188687" y="3845212"/>
            <a:ext cx="3833380" cy="50072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6000">
                <a:schemeClr val="accent2"/>
              </a:gs>
              <a:gs pos="89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rPr>
              <a:t> 核心优势</a:t>
            </a:r>
            <a:r>
              <a:rPr lang="zh-CN" altLang="en-US" sz="800" dirty="0">
                <a:solidFill>
                  <a:schemeClr val="lt1">
                    <a:alpha val="0"/>
                  </a:schemeClr>
                </a:solidFill>
              </a:rPr>
              <a:t>能演亦</a:t>
            </a:r>
            <a:endParaRPr lang="zh-CN" altLang="en-US" sz="800" dirty="0">
              <a:solidFill>
                <a:schemeClr val="lt1">
                  <a:alpha val="0"/>
                </a:schemeClr>
              </a:solidFill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8170959" y="4423928"/>
            <a:ext cx="3867236" cy="494409"/>
            <a:chOff x="8170959" y="4488602"/>
            <a:chExt cx="3833379" cy="494409"/>
          </a:xfrm>
        </p:grpSpPr>
        <p:sp>
          <p:nvSpPr>
            <p:cNvPr id="98" name="矩形: 圆角 97"/>
            <p:cNvSpPr/>
            <p:nvPr/>
          </p:nvSpPr>
          <p:spPr>
            <a:xfrm>
              <a:off x="8170959" y="4488602"/>
              <a:ext cx="3833379" cy="49440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6000">
                  <a:schemeClr val="accent2"/>
                </a:gs>
                <a:gs pos="89000">
                  <a:schemeClr val="accent1"/>
                </a:gs>
              </a:gsLst>
              <a:path path="circle">
                <a:fillToRect r="100000" b="100000"/>
              </a:path>
              <a:tileRect l="-100000" t="-10000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zh-CN" altLang="en-US" sz="2800" dirty="0">
                  <a:solidFill>
                    <a:schemeClr val="tx1">
                      <a:alpha val="0"/>
                    </a:schemeClr>
                  </a:solidFill>
                  <a:latin typeface="优设标题黑" panose="00000500000000000000" pitchFamily="2" charset="-122"/>
                  <a:ea typeface="优设标题黑" panose="00000500000000000000" pitchFamily="2" charset="-122"/>
                </a:rPr>
                <a:t>方能语义理解能力</a:t>
              </a:r>
              <a:r>
                <a:rPr lang="zh-CN" altLang="en-US" sz="800" dirty="0">
                  <a:solidFill>
                    <a:schemeClr val="lt1">
                      <a:alpha val="0"/>
                    </a:schemeClr>
                  </a:solidFill>
                </a:rPr>
                <a:t>演亦</a:t>
              </a:r>
              <a:endParaRPr lang="zh-CN" altLang="en-US" sz="800" dirty="0">
                <a:solidFill>
                  <a:schemeClr val="lt1">
                    <a:alpha val="0"/>
                  </a:schemeClr>
                </a:solidFill>
              </a:endParaRP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9225874" y="4535751"/>
              <a:ext cx="1723549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</a:rPr>
                <a:t>语义理解能力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7" name="组合 106"/>
          <p:cNvGrpSpPr/>
          <p:nvPr/>
        </p:nvGrpSpPr>
        <p:grpSpPr>
          <a:xfrm>
            <a:off x="8178293" y="5017656"/>
            <a:ext cx="3852568" cy="494409"/>
            <a:chOff x="8185627" y="5182762"/>
            <a:chExt cx="3833379" cy="494409"/>
          </a:xfrm>
        </p:grpSpPr>
        <p:sp>
          <p:nvSpPr>
            <p:cNvPr id="100" name="矩形: 圆角 99"/>
            <p:cNvSpPr/>
            <p:nvPr/>
          </p:nvSpPr>
          <p:spPr>
            <a:xfrm>
              <a:off x="8185627" y="5182762"/>
              <a:ext cx="3833379" cy="49440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6000">
                  <a:schemeClr val="accent2"/>
                </a:gs>
                <a:gs pos="89000">
                  <a:schemeClr val="accent1"/>
                </a:gs>
              </a:gsLst>
              <a:path path="circle">
                <a:fillToRect r="100000" b="100000"/>
              </a:path>
              <a:tileRect l="-100000" t="-10000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zh-CN" altLang="en-US" sz="2800" dirty="0">
                  <a:solidFill>
                    <a:schemeClr val="tx1">
                      <a:alpha val="0"/>
                    </a:schemeClr>
                  </a:solidFill>
                  <a:latin typeface="优设标题黑" panose="00000500000000000000" pitchFamily="2" charset="-122"/>
                  <a:ea typeface="优设标题黑" panose="00000500000000000000" pitchFamily="2" charset="-122"/>
                </a:rPr>
                <a:t>方能语义理解能力</a:t>
              </a:r>
              <a:r>
                <a:rPr lang="zh-CN" altLang="en-US" sz="800" dirty="0">
                  <a:solidFill>
                    <a:schemeClr val="lt1">
                      <a:alpha val="0"/>
                    </a:schemeClr>
                  </a:solidFill>
                </a:rPr>
                <a:t>演亦</a:t>
              </a:r>
              <a:endParaRPr lang="zh-CN" altLang="en-US" sz="800" dirty="0">
                <a:solidFill>
                  <a:schemeClr val="lt1">
                    <a:alpha val="0"/>
                  </a:schemeClr>
                </a:solidFill>
              </a:endParaRPr>
            </a:p>
          </p:txBody>
        </p:sp>
        <p:sp>
          <p:nvSpPr>
            <p:cNvPr id="102" name="文本框 101"/>
            <p:cNvSpPr txBox="1"/>
            <p:nvPr/>
          </p:nvSpPr>
          <p:spPr>
            <a:xfrm>
              <a:off x="9240542" y="5229911"/>
              <a:ext cx="1723549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</a:rPr>
                <a:t>代码生成能力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8209320" y="5619593"/>
            <a:ext cx="3780000" cy="494409"/>
            <a:chOff x="8258195" y="5820611"/>
            <a:chExt cx="3833379" cy="494409"/>
          </a:xfrm>
        </p:grpSpPr>
        <p:sp>
          <p:nvSpPr>
            <p:cNvPr id="101" name="矩形: 圆角 100"/>
            <p:cNvSpPr/>
            <p:nvPr/>
          </p:nvSpPr>
          <p:spPr>
            <a:xfrm>
              <a:off x="8258195" y="5820611"/>
              <a:ext cx="3833379" cy="49440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6000">
                  <a:schemeClr val="accent2"/>
                </a:gs>
                <a:gs pos="89000">
                  <a:schemeClr val="accent1"/>
                </a:gs>
              </a:gsLst>
              <a:path path="circle">
                <a:fillToRect r="100000" b="100000"/>
              </a:path>
              <a:tileRect l="-100000" t="-10000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zh-CN" altLang="en-US" sz="2800" dirty="0">
                  <a:solidFill>
                    <a:schemeClr val="tx1">
                      <a:alpha val="0"/>
                    </a:schemeClr>
                  </a:solidFill>
                  <a:latin typeface="优设标题黑" panose="00000500000000000000" pitchFamily="2" charset="-122"/>
                  <a:ea typeface="优设标题黑" panose="00000500000000000000" pitchFamily="2" charset="-122"/>
                </a:rPr>
                <a:t>方能语义理解能力</a:t>
              </a:r>
              <a:r>
                <a:rPr lang="zh-CN" altLang="en-US" sz="800" dirty="0">
                  <a:solidFill>
                    <a:schemeClr val="lt1">
                      <a:alpha val="0"/>
                    </a:schemeClr>
                  </a:solidFill>
                </a:rPr>
                <a:t>演亦</a:t>
              </a:r>
              <a:endParaRPr lang="zh-CN" altLang="en-US" sz="800" dirty="0">
                <a:solidFill>
                  <a:schemeClr val="lt1">
                    <a:alpha val="0"/>
                  </a:schemeClr>
                </a:solidFill>
              </a:endParaRPr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9441350" y="5867760"/>
              <a:ext cx="1467068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</a:rPr>
                <a:t>零成本适配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9" name="组合 108"/>
          <p:cNvGrpSpPr/>
          <p:nvPr/>
        </p:nvGrpSpPr>
        <p:grpSpPr>
          <a:xfrm>
            <a:off x="8242067" y="6221530"/>
            <a:ext cx="3780000" cy="494409"/>
            <a:chOff x="8258195" y="6349595"/>
            <a:chExt cx="3833379" cy="494409"/>
          </a:xfrm>
        </p:grpSpPr>
        <p:sp>
          <p:nvSpPr>
            <p:cNvPr id="104" name="矩形: 圆角 103"/>
            <p:cNvSpPr/>
            <p:nvPr/>
          </p:nvSpPr>
          <p:spPr>
            <a:xfrm>
              <a:off x="8258195" y="6349595"/>
              <a:ext cx="3833379" cy="49440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6000">
                  <a:schemeClr val="accent2"/>
                </a:gs>
                <a:gs pos="89000">
                  <a:schemeClr val="accent1"/>
                </a:gs>
              </a:gsLst>
              <a:path path="circle">
                <a:fillToRect r="100000" b="100000"/>
              </a:path>
              <a:tileRect l="-100000" t="-10000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zh-CN" altLang="en-US" sz="2800" dirty="0">
                  <a:solidFill>
                    <a:schemeClr val="tx1">
                      <a:alpha val="0"/>
                    </a:schemeClr>
                  </a:solidFill>
                  <a:latin typeface="优设标题黑" panose="00000500000000000000" pitchFamily="2" charset="-122"/>
                  <a:ea typeface="优设标题黑" panose="00000500000000000000" pitchFamily="2" charset="-122"/>
                </a:rPr>
                <a:t>方能语义理解能力</a:t>
              </a:r>
              <a:r>
                <a:rPr lang="zh-CN" altLang="en-US" sz="800" dirty="0">
                  <a:solidFill>
                    <a:schemeClr val="lt1">
                      <a:alpha val="0"/>
                    </a:schemeClr>
                  </a:solidFill>
                </a:rPr>
                <a:t>演亦</a:t>
              </a:r>
              <a:endParaRPr lang="zh-CN" altLang="en-US" sz="800" dirty="0">
                <a:solidFill>
                  <a:schemeClr val="lt1">
                    <a:alpha val="0"/>
                  </a:schemeClr>
                </a:solidFill>
              </a:endParaRPr>
            </a:p>
          </p:txBody>
        </p:sp>
        <p:sp>
          <p:nvSpPr>
            <p:cNvPr id="105" name="文本框 104"/>
            <p:cNvSpPr txBox="1"/>
            <p:nvPr/>
          </p:nvSpPr>
          <p:spPr>
            <a:xfrm>
              <a:off x="9569590" y="6396744"/>
              <a:ext cx="1210588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</a:rPr>
                <a:t>快速迭代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>
            <p:custDataLst>
              <p:tags r:id="rId1"/>
            </p:custDataLst>
          </p:nvPr>
        </p:nvSpPr>
        <p:spPr>
          <a:xfrm>
            <a:off x="1605357" y="35646"/>
            <a:ext cx="160528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整体框架</a:t>
            </a:r>
            <a:endParaRPr lang="zh-CN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 descr="ed991966d6d890f3f167ef4b0a70ddb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10" y="1126490"/>
            <a:ext cx="8053705" cy="4648200"/>
          </a:xfrm>
          <a:prstGeom prst="rect">
            <a:avLst/>
          </a:prstGeom>
        </p:spPr>
      </p:pic>
      <p:sp>
        <p:nvSpPr>
          <p:cNvPr id="3" name="矩形: 圆角 43"/>
          <p:cNvSpPr/>
          <p:nvPr/>
        </p:nvSpPr>
        <p:spPr>
          <a:xfrm>
            <a:off x="8973185" y="1282700"/>
            <a:ext cx="2362200" cy="1176020"/>
          </a:xfrm>
          <a:prstGeom prst="roundRect">
            <a:avLst>
              <a:gd name="adj" fmla="val 3653"/>
            </a:avLst>
          </a:prstGeom>
          <a:gradFill flip="none" rotWithShape="1">
            <a:gsLst>
              <a:gs pos="23000">
                <a:schemeClr val="accent1"/>
              </a:gs>
              <a:gs pos="100000">
                <a:schemeClr val="accent1">
                  <a:lumMod val="50000"/>
                  <a:lumOff val="5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FFFF"/>
                </a:solidFill>
                <a:latin typeface="Helvetica"/>
              </a:rPr>
              <a:t>输入层：</a:t>
            </a:r>
            <a:r>
              <a:rPr lang="en-US" altLang="zh-CN" b="1" dirty="0">
                <a:solidFill>
                  <a:srgbClr val="FFFFFF"/>
                </a:solidFill>
                <a:latin typeface="Helvetica"/>
              </a:rPr>
              <a:t>AADL </a:t>
            </a:r>
            <a:r>
              <a:rPr lang="zh-CN" altLang="en-US" b="1" dirty="0">
                <a:solidFill>
                  <a:srgbClr val="FFFFFF"/>
                </a:solidFill>
                <a:latin typeface="Helvetica"/>
              </a:rPr>
              <a:t>系统模型 → </a:t>
            </a:r>
            <a:r>
              <a:rPr lang="en-US" altLang="zh-CN" b="1" dirty="0">
                <a:solidFill>
                  <a:srgbClr val="FFFFFF"/>
                </a:solidFill>
                <a:latin typeface="Helvetica"/>
              </a:rPr>
              <a:t>aadl2c.py </a:t>
            </a:r>
            <a:r>
              <a:rPr lang="zh-CN" altLang="en-US" b="1" dirty="0">
                <a:solidFill>
                  <a:srgbClr val="FFFFFF"/>
                </a:solidFill>
                <a:latin typeface="Helvetica"/>
              </a:rPr>
              <a:t>解析 → </a:t>
            </a:r>
            <a:r>
              <a:rPr lang="en-US" altLang="zh-CN" b="1" dirty="0">
                <a:solidFill>
                  <a:srgbClr val="FFFFFF"/>
                </a:solidFill>
                <a:latin typeface="Helvetica"/>
              </a:rPr>
              <a:t>JSON </a:t>
            </a:r>
            <a:r>
              <a:rPr lang="zh-CN" altLang="en-US" b="1" dirty="0">
                <a:solidFill>
                  <a:srgbClr val="FFFFFF"/>
                </a:solidFill>
                <a:latin typeface="Helvetica"/>
              </a:rPr>
              <a:t>分区规格</a:t>
            </a:r>
            <a:endParaRPr lang="zh-CN" altLang="en-US" b="1" dirty="0">
              <a:solidFill>
                <a:srgbClr val="FFFFFF"/>
              </a:solidFill>
              <a:latin typeface="Helvetica"/>
            </a:endParaRPr>
          </a:p>
        </p:txBody>
      </p:sp>
      <p:sp>
        <p:nvSpPr>
          <p:cNvPr id="4" name="矩形: 圆角 43"/>
          <p:cNvSpPr/>
          <p:nvPr/>
        </p:nvSpPr>
        <p:spPr>
          <a:xfrm>
            <a:off x="8973185" y="2765425"/>
            <a:ext cx="2362200" cy="1176020"/>
          </a:xfrm>
          <a:prstGeom prst="roundRect">
            <a:avLst>
              <a:gd name="adj" fmla="val 3653"/>
            </a:avLst>
          </a:prstGeom>
          <a:gradFill flip="none" rotWithShape="1">
            <a:gsLst>
              <a:gs pos="23000">
                <a:schemeClr val="accent1"/>
              </a:gs>
              <a:gs pos="100000">
                <a:schemeClr val="accent1">
                  <a:lumMod val="50000"/>
                  <a:lumOff val="5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FFFF"/>
                </a:solidFill>
                <a:latin typeface="Helvetica"/>
              </a:rPr>
              <a:t>提示词层：4种策略（零样本 / 思维链 / 少样本 / 组合）构建提示词</a:t>
            </a:r>
            <a:endParaRPr lang="zh-CN" altLang="en-US" b="1" dirty="0">
              <a:solidFill>
                <a:srgbClr val="FFFFFF"/>
              </a:solidFill>
              <a:latin typeface="Helvetica"/>
            </a:endParaRPr>
          </a:p>
        </p:txBody>
      </p:sp>
      <p:sp>
        <p:nvSpPr>
          <p:cNvPr id="5" name="矩形: 圆角 43"/>
          <p:cNvSpPr/>
          <p:nvPr/>
        </p:nvSpPr>
        <p:spPr>
          <a:xfrm>
            <a:off x="8973185" y="4248150"/>
            <a:ext cx="2362200" cy="1176020"/>
          </a:xfrm>
          <a:prstGeom prst="roundRect">
            <a:avLst>
              <a:gd name="adj" fmla="val 3653"/>
            </a:avLst>
          </a:prstGeom>
          <a:gradFill flip="none" rotWithShape="1">
            <a:gsLst>
              <a:gs pos="23000">
                <a:schemeClr val="accent1"/>
              </a:gs>
              <a:gs pos="100000">
                <a:schemeClr val="accent1">
                  <a:lumMod val="50000"/>
                  <a:lumOff val="5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FFFF"/>
                </a:solidFill>
                <a:latin typeface="Helvetica"/>
              </a:rPr>
              <a:t>Claude 4.6 Sonnet </a:t>
            </a:r>
            <a:r>
              <a:rPr lang="zh-CN" altLang="en-US" b="1" dirty="0">
                <a:solidFill>
                  <a:srgbClr val="FFFFFF"/>
                </a:solidFill>
                <a:latin typeface="Helvetica"/>
              </a:rPr>
              <a:t>生成 11 个 </a:t>
            </a:r>
            <a:r>
              <a:rPr lang="en-US" altLang="zh-CN" b="1" dirty="0">
                <a:solidFill>
                  <a:srgbClr val="FFFFFF"/>
                </a:solidFill>
                <a:latin typeface="Helvetica"/>
              </a:rPr>
              <a:t>C/H </a:t>
            </a:r>
            <a:r>
              <a:rPr lang="zh-CN" altLang="en-US" b="1" dirty="0">
                <a:solidFill>
                  <a:srgbClr val="FFFFFF"/>
                </a:solidFill>
                <a:latin typeface="Helvetica"/>
              </a:rPr>
              <a:t>文件，三维评分 + </a:t>
            </a:r>
            <a:r>
              <a:rPr lang="en-US" altLang="zh-CN" b="1" dirty="0">
                <a:solidFill>
                  <a:srgbClr val="FFFFFF"/>
                </a:solidFill>
                <a:latin typeface="Helvetica"/>
              </a:rPr>
              <a:t>ARINC 653 </a:t>
            </a:r>
            <a:r>
              <a:rPr lang="zh-CN" altLang="en-US" b="1" dirty="0">
                <a:solidFill>
                  <a:srgbClr val="FFFFFF"/>
                </a:solidFill>
                <a:latin typeface="Helvetica"/>
              </a:rPr>
              <a:t>合规检查</a:t>
            </a:r>
            <a:endParaRPr lang="zh-CN" altLang="en-US" b="1" dirty="0">
              <a:solidFill>
                <a:srgbClr val="FFFFFF"/>
              </a:solidFill>
              <a:latin typeface="Helvetic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>
            <p:custDataLst>
              <p:tags r:id="rId1"/>
            </p:custDataLst>
          </p:nvPr>
        </p:nvSpPr>
        <p:spPr>
          <a:xfrm>
            <a:off x="1605357" y="35646"/>
            <a:ext cx="267208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四种提示词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策略</a:t>
            </a:r>
            <a:endParaRPr lang="zh-CN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矩形: 圆角 44"/>
          <p:cNvSpPr/>
          <p:nvPr/>
        </p:nvSpPr>
        <p:spPr>
          <a:xfrm>
            <a:off x="1222375" y="975360"/>
            <a:ext cx="3518535" cy="1121410"/>
          </a:xfrm>
          <a:prstGeom prst="roundRect">
            <a:avLst>
              <a:gd name="adj" fmla="val 5181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零样本提示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输入工程师身份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定义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+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JSON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规格 + 11文件要求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矩形: 圆角 44"/>
          <p:cNvSpPr/>
          <p:nvPr/>
        </p:nvSpPr>
        <p:spPr>
          <a:xfrm>
            <a:off x="1222375" y="2413635"/>
            <a:ext cx="3518535" cy="1121410"/>
          </a:xfrm>
          <a:prstGeom prst="roundRect">
            <a:avLst>
              <a:gd name="adj" fmla="val 5181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思维链提示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输入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4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步推理链 +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API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参考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先分析端口/任务/资源，再生成代码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矩形: 圆角 44"/>
          <p:cNvSpPr/>
          <p:nvPr/>
        </p:nvSpPr>
        <p:spPr>
          <a:xfrm>
            <a:off x="1222375" y="3851910"/>
            <a:ext cx="3518535" cy="1121410"/>
          </a:xfrm>
          <a:prstGeom prst="roundRect">
            <a:avLst>
              <a:gd name="adj" fmla="val 5181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少样本提示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  <a:p>
            <a:pPr algn="ctr">
              <a:lnSpc>
                <a:spcPct val="110000"/>
              </a:lnSpc>
            </a:pP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在零样本的基础上添加完整示例代码</a:t>
            </a:r>
            <a:endParaRPr lang="zh-CN" altLang="en-US" sz="14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矩形: 圆角 44"/>
          <p:cNvSpPr/>
          <p:nvPr/>
        </p:nvSpPr>
        <p:spPr>
          <a:xfrm>
            <a:off x="1222375" y="5290185"/>
            <a:ext cx="3518535" cy="1121410"/>
          </a:xfrm>
          <a:prstGeom prst="roundRect">
            <a:avLst>
              <a:gd name="adj" fmla="val 5181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组合提示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输入示例 + 推理链 +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API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片段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6" name="图片 5" descr="7c1b0170975890618890a85d693fe03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6010" y="652780"/>
            <a:ext cx="4699000" cy="2678430"/>
          </a:xfrm>
          <a:prstGeom prst="rect">
            <a:avLst/>
          </a:prstGeom>
        </p:spPr>
      </p:pic>
      <p:pic>
        <p:nvPicPr>
          <p:cNvPr id="7" name="图片 6" descr="f83974489a1410cd35cf97fedcf8b3f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010" y="3331210"/>
            <a:ext cx="4699000" cy="30810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" name="矩形: 圆角 54"/>
          <p:cNvSpPr/>
          <p:nvPr/>
        </p:nvSpPr>
        <p:spPr>
          <a:xfrm>
            <a:off x="0" y="556895"/>
            <a:ext cx="12192000" cy="6055995"/>
          </a:xfrm>
          <a:prstGeom prst="roundRect">
            <a:avLst>
              <a:gd name="adj" fmla="val 1126"/>
            </a:avLst>
          </a:prstGeom>
          <a:solidFill>
            <a:schemeClr val="bg1"/>
          </a:solidFill>
          <a:ln>
            <a:noFill/>
          </a:ln>
          <a:effectLst>
            <a:outerShdw blurRad="355600" dist="88900" dir="2700000" sx="98000" sy="98000" algn="tl" rotWithShape="0">
              <a:schemeClr val="tx2">
                <a:lumMod val="60000"/>
                <a:lumOff val="40000"/>
                <a:alpha val="1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800" strike="noStrike" noProof="1" dirty="0">
                <a:solidFill>
                  <a:schemeClr val="lt1">
                    <a:alpha val="0"/>
                  </a:schemeClr>
                </a:solidFill>
              </a:rPr>
              <a:t>用中文</a:t>
            </a:r>
            <a:r>
              <a:rPr lang="en-US" altLang="zh-CN" sz="800" strike="noStrike" noProof="1" dirty="0">
                <a:solidFill>
                  <a:schemeClr val="lt1">
                    <a:alpha val="0"/>
                  </a:schemeClr>
                </a:solidFill>
              </a:rPr>
              <a:t>/</a:t>
            </a:r>
            <a:r>
              <a:rPr lang="zh-CN" altLang="en-US" sz="800" strike="noStrike" noProof="1" dirty="0">
                <a:solidFill>
                  <a:schemeClr val="lt1">
                    <a:alpha val="0"/>
                  </a:schemeClr>
                </a:solidFill>
              </a:rPr>
              <a:t>英文自然语言描述系统需求</a:t>
            </a:r>
            <a:endParaRPr lang="zh-CN" altLang="en-US" sz="800" strike="noStrike" noProof="1" dirty="0">
              <a:solidFill>
                <a:schemeClr val="lt1">
                  <a:alpha val="0"/>
                </a:schemeClr>
              </a:solidFill>
            </a:endParaRPr>
          </a:p>
          <a:p>
            <a:pPr algn="ctr" fontAlgn="auto"/>
            <a:r>
              <a:rPr lang="en-US" altLang="zh-CN" sz="800" strike="noStrike" noProof="1" dirty="0">
                <a:solidFill>
                  <a:schemeClr val="lt1">
                    <a:alpha val="0"/>
                  </a:schemeClr>
                </a:solidFill>
              </a:rPr>
              <a:t>    </a:t>
            </a:r>
            <a:r>
              <a:rPr lang="zh-CN" altLang="en-US" sz="800" strike="noStrike" noProof="1" dirty="0">
                <a:solidFill>
                  <a:schemeClr val="lt1">
                    <a:alpha val="0"/>
                  </a:schemeClr>
                </a:solidFill>
              </a:rPr>
              <a:t>作为基线对比，体现形式化输入的优势</a:t>
            </a:r>
            <a:endParaRPr lang="zh-CN" altLang="en-US" sz="800" strike="noStrike" noProof="1" dirty="0">
              <a:solidFill>
                <a:schemeClr val="lt1">
                  <a:alpha val="0"/>
                </a:schemeClr>
              </a:solidFill>
            </a:endParaRPr>
          </a:p>
        </p:txBody>
      </p:sp>
      <p:sp>
        <p:nvSpPr>
          <p:cNvPr id="13318" name="矩形 32"/>
          <p:cNvSpPr/>
          <p:nvPr>
            <p:custDataLst>
              <p:tags r:id="rId1"/>
            </p:custDataLst>
          </p:nvPr>
        </p:nvSpPr>
        <p:spPr>
          <a:xfrm>
            <a:off x="1604963" y="34925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评估</a:t>
            </a:r>
            <a:r>
              <a:rPr lang="zh-CN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体系</a:t>
            </a:r>
            <a:endParaRPr lang="zh-CN" altLang="zh-CN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45" name="文本框 76"/>
          <p:cNvSpPr txBox="1"/>
          <p:nvPr/>
        </p:nvSpPr>
        <p:spPr>
          <a:xfrm>
            <a:off x="244475" y="4003675"/>
            <a:ext cx="1106488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流程阶段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3346" name="文本框 77"/>
          <p:cNvSpPr txBox="1"/>
          <p:nvPr/>
        </p:nvSpPr>
        <p:spPr>
          <a:xfrm>
            <a:off x="1533525" y="4003675"/>
            <a:ext cx="156845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传统流程开发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" name="文本框 77"/>
          <p:cNvSpPr txBox="1"/>
          <p:nvPr/>
        </p:nvSpPr>
        <p:spPr>
          <a:xfrm>
            <a:off x="7360920" y="4003675"/>
            <a:ext cx="158623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传统流程开发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65760" y="996315"/>
            <a:ext cx="3509010" cy="4865370"/>
            <a:chOff x="1537" y="1569"/>
            <a:chExt cx="5526" cy="7662"/>
          </a:xfrm>
        </p:grpSpPr>
        <p:grpSp>
          <p:nvGrpSpPr>
            <p:cNvPr id="16" name="组合 15"/>
            <p:cNvGrpSpPr/>
            <p:nvPr/>
          </p:nvGrpSpPr>
          <p:grpSpPr>
            <a:xfrm>
              <a:off x="1537" y="1569"/>
              <a:ext cx="5527" cy="7662"/>
              <a:chOff x="1347" y="3123"/>
              <a:chExt cx="5527" cy="7662"/>
            </a:xfrm>
          </p:grpSpPr>
          <p:sp>
            <p:nvSpPr>
              <p:cNvPr id="13" name="矩形: 圆角 49"/>
              <p:cNvSpPr/>
              <p:nvPr/>
            </p:nvSpPr>
            <p:spPr>
              <a:xfrm>
                <a:off x="1348" y="3123"/>
                <a:ext cx="5420" cy="7662"/>
              </a:xfrm>
              <a:prstGeom prst="roundRect">
                <a:avLst>
                  <a:gd name="adj" fmla="val 6013"/>
                </a:avLst>
              </a:prstGeom>
              <a:gradFill flip="none" rotWithShape="1">
                <a:gsLst>
                  <a:gs pos="0">
                    <a:schemeClr val="accent1"/>
                  </a:gs>
                  <a:gs pos="81000">
                    <a:schemeClr val="accent2"/>
                  </a:gs>
                  <a:gs pos="100000">
                    <a:schemeClr val="accent2">
                      <a:lumMod val="50000"/>
                      <a:lumOff val="5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flat">
                <a:noFill/>
                <a:prstDash val="solid"/>
                <a:miter/>
              </a:ln>
              <a:effectLst>
                <a:reflection blurRad="139700" stA="52000" endA="300" endPos="10000" dir="5400000" sy="-100000" algn="bl" rotWithShape="0"/>
              </a:effectLst>
            </p:spPr>
            <p:txBody>
              <a:bodyPr rtlCol="0" anchor="ctr"/>
              <a:lstStyle/>
              <a:p>
                <a:pPr algn="ctr"/>
                <a:r>
                  <a:rPr lang="zh-CN" altLang="en-US" sz="800" dirty="0">
                    <a:solidFill>
                      <a:schemeClr val="lt1">
                        <a:alpha val="0"/>
                      </a:schemeClr>
                    </a:solidFill>
                  </a:rPr>
                  <a:t>方能演亦</a:t>
                </a:r>
                <a:endParaRPr lang="zh-CN" altLang="en-US" sz="800" dirty="0">
                  <a:solidFill>
                    <a:schemeClr val="lt1">
                      <a:alpha val="0"/>
                    </a:schemeClr>
                  </a:solidFill>
                </a:endParaRPr>
              </a:p>
            </p:txBody>
          </p:sp>
          <p:sp>
            <p:nvSpPr>
              <p:cNvPr id="7" name="矩形: 圆角 50"/>
              <p:cNvSpPr/>
              <p:nvPr/>
            </p:nvSpPr>
            <p:spPr>
              <a:xfrm>
                <a:off x="1348" y="4090"/>
                <a:ext cx="5420" cy="6187"/>
              </a:xfrm>
              <a:prstGeom prst="roundRect">
                <a:avLst>
                  <a:gd name="adj" fmla="val 6418"/>
                </a:avLst>
              </a:prstGeom>
              <a:gradFill flip="none" rotWithShape="1">
                <a:gsLst>
                  <a:gs pos="100000">
                    <a:schemeClr val="bg1">
                      <a:alpha val="88000"/>
                    </a:schemeClr>
                  </a:gs>
                  <a:gs pos="72000">
                    <a:schemeClr val="bg1">
                      <a:alpha val="87000"/>
                    </a:schemeClr>
                  </a:gs>
                  <a:gs pos="14000">
                    <a:schemeClr val="bg1">
                      <a:alpha val="95000"/>
                    </a:schemeClr>
                  </a:gs>
                </a:gsLst>
                <a:lin ang="2700000" scaled="1"/>
                <a:tileRect/>
              </a:gradFill>
              <a:ln w="9525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800" dirty="0">
                    <a:solidFill>
                      <a:schemeClr val="lt1">
                        <a:alpha val="0"/>
                      </a:schemeClr>
                    </a:solidFill>
                  </a:rPr>
                  <a:t>方能演亦</a:t>
                </a:r>
                <a:endParaRPr lang="zh-CN" altLang="en-US" sz="800" dirty="0">
                  <a:solidFill>
                    <a:schemeClr val="lt1">
                      <a:alpha val="0"/>
                    </a:schemeClr>
                  </a:solidFill>
                </a:endParaRPr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3786" y="3300"/>
                <a:ext cx="488" cy="5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1616" y="4609"/>
                <a:ext cx="1331" cy="10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600" dirty="0">
                    <a:solidFill>
                      <a:schemeClr val="tx1"/>
                    </a:solidFill>
                    <a:latin typeface="黑体" panose="02010609060101010101" charset="-122"/>
                    <a:ea typeface="黑体" panose="02010609060101010101" charset="-122"/>
                  </a:rPr>
                  <a:t>结构</a:t>
                </a:r>
                <a:endParaRPr lang="zh-CN" altLang="en-US" sz="1600" dirty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zh-CN" altLang="en-US" sz="1600" dirty="0">
                    <a:solidFill>
                      <a:schemeClr val="tx1"/>
                    </a:solidFill>
                    <a:latin typeface="黑体" panose="02010609060101010101" charset="-122"/>
                    <a:ea typeface="黑体" panose="02010609060101010101" charset="-122"/>
                  </a:rPr>
                  <a:t>完整性</a:t>
                </a:r>
                <a:endParaRPr lang="zh-CN" altLang="en-US" sz="1600" dirty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3215" y="4144"/>
                <a:ext cx="3264" cy="20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dirty="0">
                    <a:solidFill>
                      <a:schemeClr val="tx1"/>
                    </a:solidFill>
                  </a:rPr>
                  <a:t>11个文件是否齐全，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HM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回调是否存在、函数签名、头文件保护、宏定义</a:t>
                </a:r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文本框 47"/>
              <p:cNvSpPr txBox="1"/>
              <p:nvPr/>
            </p:nvSpPr>
            <p:spPr>
              <a:xfrm>
                <a:off x="1347" y="6888"/>
                <a:ext cx="1869" cy="6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20000"/>
                  </a:lnSpc>
                  <a:buClrTx/>
                  <a:buSzTx/>
                  <a:buFontTx/>
                </a:pPr>
                <a:r>
                  <a:rPr lang="zh-CN" altLang="en-US" sz="1600" dirty="0">
                    <a:latin typeface="黑体" panose="02010609060101010101" charset="-122"/>
                    <a:ea typeface="黑体" panose="02010609060101010101" charset="-122"/>
                  </a:rPr>
                  <a:t>API正确性</a:t>
                </a:r>
                <a:endParaRPr lang="zh-CN" altLang="en-US" sz="1600" dirty="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3215" y="6539"/>
                <a:ext cx="3659" cy="15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600" dirty="0">
                    <a:solidFill>
                      <a:schemeClr val="tx1"/>
                    </a:solidFill>
                  </a:rPr>
                  <a:t>CREATE/READ/WRITE 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配对，端口方向，命名格式</a:t>
                </a:r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1717" y="8702"/>
                <a:ext cx="1399" cy="10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600" dirty="0">
                    <a:solidFill>
                      <a:schemeClr val="tx1"/>
                    </a:solidFill>
                    <a:latin typeface="黑体" panose="02010609060101010101" charset="-122"/>
                    <a:ea typeface="黑体" panose="02010609060101010101" charset="-122"/>
                  </a:rPr>
                  <a:t>语义</a:t>
                </a:r>
                <a:endParaRPr lang="zh-CN" altLang="en-US" sz="1600" dirty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zh-CN" altLang="en-US" sz="1600" dirty="0">
                    <a:solidFill>
                      <a:schemeClr val="tx1"/>
                    </a:solidFill>
                    <a:latin typeface="黑体" panose="02010609060101010101" charset="-122"/>
                    <a:ea typeface="黑体" panose="02010609060101010101" charset="-122"/>
                  </a:rPr>
                  <a:t>一致性</a:t>
                </a:r>
                <a:endParaRPr lang="zh-CN" altLang="en-US" sz="1600" dirty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3215" y="8469"/>
                <a:ext cx="2881" cy="15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dirty="0">
                    <a:solidFill>
                      <a:schemeClr val="tx1"/>
                    </a:solidFill>
                  </a:rPr>
                  <a:t>任务名、端口名、资源名与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JSON 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规格一致</a:t>
                </a:r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6" name="文本框 25"/>
            <p:cNvSpPr txBox="1"/>
            <p:nvPr/>
          </p:nvSpPr>
          <p:spPr>
            <a:xfrm>
              <a:off x="2780" y="1725"/>
              <a:ext cx="3041" cy="580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ctr"/>
              <a:r>
                <a:rPr lang="zh-CN" altLang="en-US" sz="180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三维检查</a:t>
              </a:r>
              <a:endParaRPr lang="zh-CN" altLang="en-US" sz="18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994785" y="1011555"/>
            <a:ext cx="3719830" cy="4865370"/>
            <a:chOff x="7428" y="1650"/>
            <a:chExt cx="10532" cy="7662"/>
          </a:xfrm>
        </p:grpSpPr>
        <p:grpSp>
          <p:nvGrpSpPr>
            <p:cNvPr id="14" name="组合 13"/>
            <p:cNvGrpSpPr/>
            <p:nvPr/>
          </p:nvGrpSpPr>
          <p:grpSpPr>
            <a:xfrm>
              <a:off x="7428" y="1650"/>
              <a:ext cx="10532" cy="7662"/>
              <a:chOff x="1536" y="3123"/>
              <a:chExt cx="5232" cy="7662"/>
            </a:xfrm>
          </p:grpSpPr>
          <p:sp>
            <p:nvSpPr>
              <p:cNvPr id="17" name="矩形: 圆角 49"/>
              <p:cNvSpPr/>
              <p:nvPr/>
            </p:nvSpPr>
            <p:spPr>
              <a:xfrm>
                <a:off x="1536" y="3123"/>
                <a:ext cx="5232" cy="7662"/>
              </a:xfrm>
              <a:prstGeom prst="roundRect">
                <a:avLst>
                  <a:gd name="adj" fmla="val 6013"/>
                </a:avLst>
              </a:prstGeom>
              <a:gradFill flip="none" rotWithShape="1">
                <a:gsLst>
                  <a:gs pos="0">
                    <a:schemeClr val="accent1"/>
                  </a:gs>
                  <a:gs pos="81000">
                    <a:schemeClr val="accent2"/>
                  </a:gs>
                  <a:gs pos="100000">
                    <a:schemeClr val="accent2">
                      <a:lumMod val="50000"/>
                      <a:lumOff val="5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flat">
                <a:noFill/>
                <a:prstDash val="solid"/>
                <a:miter/>
              </a:ln>
              <a:effectLst>
                <a:reflection blurRad="139700" stA="52000" endA="300" endPos="10000" dir="5400000" sy="-100000" algn="bl" rotWithShape="0"/>
              </a:effectLst>
            </p:spPr>
            <p:txBody>
              <a:bodyPr rtlCol="0" anchor="ctr"/>
              <a:lstStyle/>
              <a:p>
                <a:pPr algn="ctr"/>
                <a:r>
                  <a:rPr lang="zh-CN" altLang="en-US" sz="800" dirty="0">
                    <a:solidFill>
                      <a:schemeClr val="lt1">
                        <a:alpha val="0"/>
                      </a:schemeClr>
                    </a:solidFill>
                  </a:rPr>
                  <a:t>方能演亦</a:t>
                </a:r>
                <a:endParaRPr lang="zh-CN" altLang="en-US" sz="800" dirty="0">
                  <a:solidFill>
                    <a:schemeClr val="lt1">
                      <a:alpha val="0"/>
                    </a:schemeClr>
                  </a:solidFill>
                </a:endParaRPr>
              </a:p>
            </p:txBody>
          </p:sp>
          <p:sp>
            <p:nvSpPr>
              <p:cNvPr id="18" name="矩形: 圆角 50"/>
              <p:cNvSpPr/>
              <p:nvPr/>
            </p:nvSpPr>
            <p:spPr>
              <a:xfrm>
                <a:off x="1537" y="4090"/>
                <a:ext cx="5231" cy="6187"/>
              </a:xfrm>
              <a:prstGeom prst="roundRect">
                <a:avLst>
                  <a:gd name="adj" fmla="val 6418"/>
                </a:avLst>
              </a:prstGeom>
              <a:gradFill flip="none" rotWithShape="1">
                <a:gsLst>
                  <a:gs pos="100000">
                    <a:schemeClr val="bg1">
                      <a:alpha val="88000"/>
                    </a:schemeClr>
                  </a:gs>
                  <a:gs pos="72000">
                    <a:schemeClr val="bg1">
                      <a:alpha val="87000"/>
                    </a:schemeClr>
                  </a:gs>
                  <a:gs pos="14000">
                    <a:schemeClr val="bg1">
                      <a:alpha val="95000"/>
                    </a:schemeClr>
                  </a:gs>
                </a:gsLst>
                <a:lin ang="2700000" scaled="1"/>
                <a:tileRect/>
              </a:gradFill>
              <a:ln w="9525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800" dirty="0">
                    <a:solidFill>
                      <a:schemeClr val="lt1">
                        <a:alpha val="0"/>
                      </a:schemeClr>
                    </a:solidFill>
                  </a:rPr>
                  <a:t>方能演亦</a:t>
                </a:r>
                <a:endParaRPr lang="zh-CN" altLang="en-US" sz="800" dirty="0">
                  <a:solidFill>
                    <a:schemeClr val="lt1">
                      <a:alpha val="0"/>
                    </a:schemeClr>
                  </a:solidFill>
                </a:endParaRPr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2196" y="3300"/>
                <a:ext cx="3668" cy="5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</a:rPr>
                  <a:t>ARINC 653 </a:t>
                </a:r>
                <a:r>
                  <a:rPr lang="zh-CN" altLang="en-US" b="1" dirty="0">
                    <a:solidFill>
                      <a:schemeClr val="bg1"/>
                    </a:solidFill>
                  </a:rPr>
                  <a:t>合规检查</a:t>
                </a:r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7" name="文本框 26"/>
            <p:cNvSpPr txBox="1"/>
            <p:nvPr/>
          </p:nvSpPr>
          <p:spPr>
            <a:xfrm>
              <a:off x="8544" y="3132"/>
              <a:ext cx="8177" cy="681"/>
            </a:xfrm>
            <a:prstGeom prst="rect">
              <a:avLst/>
            </a:prstGeom>
          </p:spPr>
          <p:txBody>
            <a:bodyPr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en-US" altLang="zh-CN" sz="1800">
                  <a:latin typeface="Arial" panose="020B0604020202020204" pitchFamily="34" charset="0"/>
                  <a:ea typeface="微软雅黑" panose="020B0503020204020204" charset="-122"/>
                </a:rPr>
                <a:t>R1/R2：</a:t>
              </a:r>
              <a:r>
                <a:rPr lang="zh-CN" altLang="en-US" sz="1800">
                  <a:latin typeface="Arial" panose="020B0604020202020204" pitchFamily="34" charset="0"/>
                  <a:ea typeface="微软雅黑" panose="020B0503020204020204" charset="-122"/>
                </a:rPr>
                <a:t>黑板/缓冲区必须同时有读写两端操作</a:t>
              </a:r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8544" y="4639"/>
              <a:ext cx="8887" cy="101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en-US" altLang="zh-CN" sz="1800">
                  <a:latin typeface="Arial" panose="020B0604020202020204" pitchFamily="34" charset="0"/>
                  <a:ea typeface="微软雅黑" panose="020B0503020204020204" charset="-122"/>
                </a:rPr>
                <a:t>R3–R6：</a:t>
              </a:r>
              <a:r>
                <a:rPr lang="zh-CN" altLang="en-US" sz="1800">
                  <a:latin typeface="Arial" panose="020B0604020202020204" pitchFamily="34" charset="0"/>
                  <a:ea typeface="微软雅黑" panose="020B0503020204020204" charset="-122"/>
                </a:rPr>
                <a:t>采样/队列端口方向与规格一致</a:t>
              </a:r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8544" y="6045"/>
              <a:ext cx="7747" cy="101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en-US" altLang="zh-CN" sz="1800">
                  <a:latin typeface="Arial" panose="020B0604020202020204" pitchFamily="34" charset="0"/>
                  <a:ea typeface="微软雅黑" panose="020B0503020204020204" charset="-122"/>
                </a:rPr>
                <a:t>R7：</a:t>
              </a:r>
              <a:r>
                <a:rPr lang="zh-CN" altLang="en-US" sz="1800">
                  <a:latin typeface="Arial" panose="020B0604020202020204" pitchFamily="34" charset="0"/>
                  <a:ea typeface="微软雅黑" panose="020B0503020204020204" charset="-122"/>
                </a:rPr>
                <a:t>必须实现 </a:t>
              </a:r>
              <a:r>
                <a:rPr lang="en-US" altLang="zh-CN" sz="1800">
                  <a:latin typeface="Arial" panose="020B0604020202020204" pitchFamily="34" charset="0"/>
                  <a:ea typeface="微软雅黑" panose="020B0503020204020204" charset="-122"/>
                </a:rPr>
                <a:t>HM </a:t>
              </a:r>
              <a:r>
                <a:rPr lang="zh-CN" altLang="en-US" sz="1800">
                  <a:latin typeface="Arial" panose="020B0604020202020204" pitchFamily="34" charset="0"/>
                  <a:ea typeface="微软雅黑" panose="020B0503020204020204" charset="-122"/>
                </a:rPr>
                <a:t>回调函数</a:t>
              </a:r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8544" y="7451"/>
              <a:ext cx="8088" cy="101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en-US" altLang="zh-CN" sz="1800">
                  <a:latin typeface="Arial" panose="020B0604020202020204" pitchFamily="34" charset="0"/>
                  <a:ea typeface="微软雅黑" panose="020B0503020204020204" charset="-122"/>
                </a:rPr>
                <a:t>R8：CREATE_* </a:t>
              </a:r>
              <a:r>
                <a:rPr lang="zh-CN" altLang="en-US" sz="1800">
                  <a:latin typeface="Arial" panose="020B0604020202020204" pitchFamily="34" charset="0"/>
                  <a:ea typeface="微软雅黑" panose="020B0503020204020204" charset="-122"/>
                </a:rPr>
                <a:t>不得出现在 </a:t>
              </a:r>
              <a:r>
                <a:rPr lang="en-US" altLang="zh-CN" sz="1800">
                  <a:latin typeface="Arial" panose="020B0604020202020204" pitchFamily="34" charset="0"/>
                  <a:ea typeface="微软雅黑" panose="020B0503020204020204" charset="-122"/>
                </a:rPr>
                <a:t>while(1) </a:t>
              </a:r>
              <a:r>
                <a:rPr lang="zh-CN" altLang="en-US" sz="1800">
                  <a:latin typeface="Arial" panose="020B0604020202020204" pitchFamily="34" charset="0"/>
                  <a:ea typeface="微软雅黑" panose="020B0503020204020204" charset="-122"/>
                </a:rPr>
                <a:t>循环内</a:t>
              </a:r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  <p:pic>
        <p:nvPicPr>
          <p:cNvPr id="5" name="图片 4" descr="daa5dc35d2ee75b230e1bc076397def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6375" y="1561465"/>
            <a:ext cx="4283075" cy="377888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>
            <p:custDataLst>
              <p:tags r:id="rId1"/>
            </p:custDataLst>
          </p:nvPr>
        </p:nvSpPr>
        <p:spPr>
          <a:xfrm>
            <a:off x="1605357" y="35646"/>
            <a:ext cx="160528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实验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结果</a:t>
            </a:r>
            <a:endParaRPr lang="zh-CN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 descr="fig4_1_rad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75" y="859790"/>
            <a:ext cx="6066790" cy="5139055"/>
          </a:xfrm>
          <a:prstGeom prst="rect">
            <a:avLst/>
          </a:prstGeom>
        </p:spPr>
      </p:pic>
      <p:sp>
        <p:nvSpPr>
          <p:cNvPr id="45" name="矩形: 圆角 44"/>
          <p:cNvSpPr/>
          <p:nvPr/>
        </p:nvSpPr>
        <p:spPr>
          <a:xfrm>
            <a:off x="7586980" y="1668145"/>
            <a:ext cx="3518535" cy="1419860"/>
          </a:xfrm>
          <a:prstGeom prst="roundRect">
            <a:avLst>
              <a:gd name="adj" fmla="val 5181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少样本和组合策略三维得分均达满分；组合策略合规率最高（93.5%），是最佳策略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矩形: 圆角 44"/>
          <p:cNvSpPr/>
          <p:nvPr/>
        </p:nvSpPr>
        <p:spPr>
          <a:xfrm>
            <a:off x="7586980" y="3833495"/>
            <a:ext cx="3518535" cy="1608455"/>
          </a:xfrm>
          <a:prstGeom prst="roundRect">
            <a:avLst>
              <a:gd name="adj" fmla="val 5181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CoT 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推理自由度过高，自主调整了文件职责和命名风格，偏离了评估规则期望的固定格式，体现了提示词约束不足时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LLM 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输出的不稳定性。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>
            <p:custDataLst>
              <p:tags r:id="rId1"/>
            </p:custDataLst>
          </p:nvPr>
        </p:nvSpPr>
        <p:spPr>
          <a:xfrm>
            <a:off x="1605357" y="35646"/>
            <a:ext cx="160528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工具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演示</a:t>
            </a:r>
            <a:endParaRPr lang="zh-CN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 descr="916d811f22a27c31bd3f23455d837a1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944880"/>
            <a:ext cx="4574540" cy="1401445"/>
          </a:xfrm>
          <a:prstGeom prst="rect">
            <a:avLst/>
          </a:prstGeom>
        </p:spPr>
      </p:pic>
      <p:pic>
        <p:nvPicPr>
          <p:cNvPr id="5" name="图片 4" descr="80c6c45502f06bab5c4fde672fd670c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910" y="3079115"/>
            <a:ext cx="3250565" cy="2553970"/>
          </a:xfrm>
          <a:prstGeom prst="rect">
            <a:avLst/>
          </a:prstGeom>
        </p:spPr>
      </p:pic>
      <p:pic>
        <p:nvPicPr>
          <p:cNvPr id="7" name="图片 6" descr="1953cf17a9fd6703580f93a2c342e54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4555" y="1557655"/>
            <a:ext cx="4894580" cy="3481070"/>
          </a:xfrm>
          <a:prstGeom prst="rect">
            <a:avLst/>
          </a:prstGeom>
        </p:spPr>
      </p:pic>
      <p:sp>
        <p:nvSpPr>
          <p:cNvPr id="45" name="矩形: 圆角 44"/>
          <p:cNvSpPr/>
          <p:nvPr/>
        </p:nvSpPr>
        <p:spPr>
          <a:xfrm>
            <a:off x="1050925" y="2426970"/>
            <a:ext cx="3518535" cy="531495"/>
          </a:xfrm>
          <a:prstGeom prst="roundRect">
            <a:avLst>
              <a:gd name="adj" fmla="val 5181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从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AADL 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提取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JSON 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规格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矩形: 圆角 44"/>
          <p:cNvSpPr/>
          <p:nvPr/>
        </p:nvSpPr>
        <p:spPr>
          <a:xfrm>
            <a:off x="1050925" y="5753735"/>
            <a:ext cx="3518535" cy="702310"/>
          </a:xfrm>
          <a:prstGeom prst="roundRect">
            <a:avLst>
              <a:gd name="adj" fmla="val 5181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将 嵌入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JSON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的提示词模板发给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Claude，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得到 11 个文件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" name="矩形: 圆角 44"/>
          <p:cNvSpPr/>
          <p:nvPr/>
        </p:nvSpPr>
        <p:spPr>
          <a:xfrm>
            <a:off x="6652895" y="5386070"/>
            <a:ext cx="3518535" cy="702310"/>
          </a:xfrm>
          <a:prstGeom prst="roundRect">
            <a:avLst>
              <a:gd name="adj" fmla="val 5181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进行三维评估及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ARINC653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评估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3" name="矩形 32"/>
          <p:cNvSpPr/>
          <p:nvPr>
            <p:custDataLst>
              <p:tags r:id="rId1"/>
            </p:custDataLst>
          </p:nvPr>
        </p:nvSpPr>
        <p:spPr>
          <a:xfrm>
            <a:off x="1604963" y="34925"/>
            <a:ext cx="231648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生成代码</a:t>
            </a:r>
            <a:r>
              <a:rPr lang="zh-CN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示例</a:t>
            </a:r>
            <a:endParaRPr lang="zh-CN" altLang="zh-CN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 descr="2df0cc80b1db98172228097fbbb2d39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430" y="930275"/>
            <a:ext cx="3665220" cy="3568700"/>
          </a:xfrm>
          <a:prstGeom prst="rect">
            <a:avLst/>
          </a:prstGeom>
        </p:spPr>
      </p:pic>
      <p:pic>
        <p:nvPicPr>
          <p:cNvPr id="8" name="图片 7" descr="325eb627daf7a6200fae3b4fb64d1d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335" y="752475"/>
            <a:ext cx="3641725" cy="2279650"/>
          </a:xfrm>
          <a:prstGeom prst="rect">
            <a:avLst/>
          </a:prstGeom>
        </p:spPr>
      </p:pic>
      <p:pic>
        <p:nvPicPr>
          <p:cNvPr id="9" name="图片 8" descr="ec6b2d63dca4e5f30c8ed065de9ab5e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635" y="3957320"/>
            <a:ext cx="5191125" cy="1123950"/>
          </a:xfrm>
          <a:prstGeom prst="rect">
            <a:avLst/>
          </a:prstGeom>
        </p:spPr>
      </p:pic>
      <p:sp>
        <p:nvSpPr>
          <p:cNvPr id="45" name="矩形: 圆角 44"/>
          <p:cNvSpPr/>
          <p:nvPr/>
        </p:nvSpPr>
        <p:spPr>
          <a:xfrm>
            <a:off x="1100455" y="4931410"/>
            <a:ext cx="3518535" cy="531495"/>
          </a:xfrm>
          <a:prstGeom prst="roundRect">
            <a:avLst>
              <a:gd name="adj" fmla="val 5181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资源名与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JSON 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规格完全一致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矩形: 圆角 44"/>
          <p:cNvSpPr/>
          <p:nvPr/>
        </p:nvSpPr>
        <p:spPr>
          <a:xfrm>
            <a:off x="6932930" y="3228975"/>
            <a:ext cx="3518535" cy="531495"/>
          </a:xfrm>
          <a:prstGeom prst="roundRect">
            <a:avLst>
              <a:gd name="adj" fmla="val 5181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周期正确换算为纳秒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矩形: 圆角 44"/>
          <p:cNvSpPr/>
          <p:nvPr/>
        </p:nvSpPr>
        <p:spPr>
          <a:xfrm>
            <a:off x="6829425" y="5403850"/>
            <a:ext cx="3725545" cy="531495"/>
          </a:xfrm>
          <a:prstGeom prst="roundRect">
            <a:avLst>
              <a:gd name="adj" fmla="val 5181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SET_PARTITION_MODE 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在最后调用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3" name="矩形 32"/>
          <p:cNvSpPr/>
          <p:nvPr>
            <p:custDataLst>
              <p:tags r:id="rId1"/>
            </p:custDataLst>
          </p:nvPr>
        </p:nvSpPr>
        <p:spPr>
          <a:xfrm>
            <a:off x="1604963" y="34925"/>
            <a:ext cx="302768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输入格式对比</a:t>
            </a:r>
            <a:r>
              <a:rPr lang="zh-CN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实验</a:t>
            </a:r>
            <a:endParaRPr lang="zh-CN" altLang="zh-CN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6284595" y="1318895"/>
          <a:ext cx="5461635" cy="2533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5885"/>
                <a:gridCol w="1365250"/>
                <a:gridCol w="1155700"/>
                <a:gridCol w="1574800"/>
              </a:tblGrid>
              <a:tr h="5854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输入格式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综合得分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合规率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问题</a:t>
                      </a:r>
                      <a:endParaRPr lang="zh-CN" altLang="en-US"/>
                    </a:p>
                  </a:txBody>
                  <a:tcPr/>
                </a:tc>
              </a:tr>
              <a:tr h="6496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自然语言描述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100.0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66.7%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黑板/缓冲区操作缺失</a:t>
                      </a:r>
                      <a:endParaRPr lang="zh-CN" altLang="en-US"/>
                    </a:p>
                  </a:txBody>
                  <a:tcPr/>
                </a:tc>
              </a:tr>
              <a:tr h="6489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AADL </a:t>
                      </a:r>
                      <a:r>
                        <a:rPr lang="zh-CN" altLang="en-US"/>
                        <a:t>原文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91.2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100.0%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资源命名偏差</a:t>
                      </a:r>
                      <a:endParaRPr lang="zh-CN" altLang="en-US"/>
                    </a:p>
                  </a:txBody>
                  <a:tcPr/>
                </a:tc>
              </a:tr>
              <a:tr h="6496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结构化 </a:t>
                      </a:r>
                      <a:r>
                        <a:rPr lang="en-US" altLang="zh-CN"/>
                        <a:t>JSON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97.2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66.7%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黑板/缓冲区操作缺失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5" name="矩形: 圆角 44"/>
          <p:cNvSpPr/>
          <p:nvPr/>
        </p:nvSpPr>
        <p:spPr>
          <a:xfrm>
            <a:off x="6284595" y="4525010"/>
            <a:ext cx="5461635" cy="1470025"/>
          </a:xfrm>
          <a:prstGeom prst="roundRect">
            <a:avLst>
              <a:gd name="adj" fmla="val 5181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自然语言综合得分最高（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LLM 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对自然语言理解更好），但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AADL 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原文反而合规率最高（直接包含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API 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语义线索）；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JSON 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格式在两者间取得平衡，且更易于自动化生成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5" name="图片 4" descr="d163f69286ad8d3e8dd220f6f98e2c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65" y="915670"/>
            <a:ext cx="5772785" cy="1626235"/>
          </a:xfrm>
          <a:prstGeom prst="rect">
            <a:avLst/>
          </a:prstGeom>
        </p:spPr>
      </p:pic>
      <p:pic>
        <p:nvPicPr>
          <p:cNvPr id="6" name="图片 5" descr="22f0616e32b81727e537b6d11640d72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65" y="2712720"/>
            <a:ext cx="5772785" cy="373824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" name="矩形: 圆角 54"/>
          <p:cNvSpPr/>
          <p:nvPr/>
        </p:nvSpPr>
        <p:spPr>
          <a:xfrm>
            <a:off x="0" y="556895"/>
            <a:ext cx="12192000" cy="6055995"/>
          </a:xfrm>
          <a:prstGeom prst="roundRect">
            <a:avLst>
              <a:gd name="adj" fmla="val 1126"/>
            </a:avLst>
          </a:prstGeom>
          <a:solidFill>
            <a:schemeClr val="bg1"/>
          </a:solidFill>
          <a:ln>
            <a:noFill/>
          </a:ln>
          <a:effectLst>
            <a:outerShdw blurRad="355600" dist="88900" dir="2700000" sx="98000" sy="98000" algn="tl" rotWithShape="0">
              <a:schemeClr val="tx2">
                <a:lumMod val="60000"/>
                <a:lumOff val="40000"/>
                <a:alpha val="1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800" strike="noStrike" noProof="1" dirty="0">
                <a:solidFill>
                  <a:schemeClr val="lt1">
                    <a:alpha val="0"/>
                  </a:schemeClr>
                </a:solidFill>
              </a:rPr>
              <a:t>用中文</a:t>
            </a:r>
            <a:r>
              <a:rPr lang="en-US" altLang="zh-CN" sz="800" strike="noStrike" noProof="1" dirty="0">
                <a:solidFill>
                  <a:schemeClr val="lt1">
                    <a:alpha val="0"/>
                  </a:schemeClr>
                </a:solidFill>
              </a:rPr>
              <a:t>/</a:t>
            </a:r>
            <a:r>
              <a:rPr lang="zh-CN" altLang="en-US" sz="800" strike="noStrike" noProof="1" dirty="0">
                <a:solidFill>
                  <a:schemeClr val="lt1">
                    <a:alpha val="0"/>
                  </a:schemeClr>
                </a:solidFill>
              </a:rPr>
              <a:t>英文自然语言描述系统需求</a:t>
            </a:r>
            <a:endParaRPr lang="zh-CN" altLang="en-US" sz="800" strike="noStrike" noProof="1" dirty="0">
              <a:solidFill>
                <a:schemeClr val="lt1">
                  <a:alpha val="0"/>
                </a:schemeClr>
              </a:solidFill>
            </a:endParaRPr>
          </a:p>
          <a:p>
            <a:pPr algn="ctr" fontAlgn="auto"/>
            <a:r>
              <a:rPr lang="en-US" altLang="zh-CN" sz="800" strike="noStrike" noProof="1" dirty="0">
                <a:solidFill>
                  <a:schemeClr val="lt1">
                    <a:alpha val="0"/>
                  </a:schemeClr>
                </a:solidFill>
              </a:rPr>
              <a:t>    </a:t>
            </a:r>
            <a:r>
              <a:rPr lang="zh-CN" altLang="en-US" sz="800" strike="noStrike" noProof="1" dirty="0">
                <a:solidFill>
                  <a:schemeClr val="lt1">
                    <a:alpha val="0"/>
                  </a:schemeClr>
                </a:solidFill>
              </a:rPr>
              <a:t>作为基线对比，体现形式化输入的优势</a:t>
            </a:r>
            <a:endParaRPr lang="zh-CN" altLang="en-US" sz="800" strike="noStrike" noProof="1" dirty="0">
              <a:solidFill>
                <a:schemeClr val="lt1">
                  <a:alpha val="0"/>
                </a:schemeClr>
              </a:solidFill>
            </a:endParaRPr>
          </a:p>
        </p:txBody>
      </p:sp>
      <p:sp>
        <p:nvSpPr>
          <p:cNvPr id="13318" name="矩形 32"/>
          <p:cNvSpPr/>
          <p:nvPr>
            <p:custDataLst>
              <p:tags r:id="rId1"/>
            </p:custDataLst>
          </p:nvPr>
        </p:nvSpPr>
        <p:spPr>
          <a:xfrm>
            <a:off x="1604963" y="34925"/>
            <a:ext cx="196088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zh-CN" altLang="zh-CN" sz="2800" b="1" dirty="0">
                <a:solidFill>
                  <a:schemeClr val="bg1"/>
                </a:solidFill>
                <a:latin typeface="微软雅黑" panose="020B0503020204020204" charset="-122"/>
                <a:sym typeface="+mn-ea"/>
              </a:rPr>
              <a:t>总结与展望</a:t>
            </a:r>
            <a:endParaRPr lang="zh-CN" altLang="zh-CN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45" name="文本框 76"/>
          <p:cNvSpPr txBox="1"/>
          <p:nvPr/>
        </p:nvSpPr>
        <p:spPr>
          <a:xfrm>
            <a:off x="244475" y="4003675"/>
            <a:ext cx="1106488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1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流程阶段</a:t>
            </a:r>
            <a:endParaRPr lang="zh-CN" altLang="en-US" sz="1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3346" name="文本框 77"/>
          <p:cNvSpPr txBox="1"/>
          <p:nvPr/>
        </p:nvSpPr>
        <p:spPr>
          <a:xfrm>
            <a:off x="1533525" y="4003675"/>
            <a:ext cx="156845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1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传统流程开发</a:t>
            </a:r>
            <a:endParaRPr lang="zh-CN" altLang="en-US" sz="1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" name="文本框 77"/>
          <p:cNvSpPr txBox="1"/>
          <p:nvPr/>
        </p:nvSpPr>
        <p:spPr>
          <a:xfrm>
            <a:off x="7360920" y="4003675"/>
            <a:ext cx="158623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1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传统流程开发</a:t>
            </a:r>
            <a:endParaRPr lang="zh-CN" altLang="en-US" sz="1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66395" y="996315"/>
            <a:ext cx="3441700" cy="4865370"/>
            <a:chOff x="1538" y="1569"/>
            <a:chExt cx="5420" cy="7662"/>
          </a:xfrm>
        </p:grpSpPr>
        <p:grpSp>
          <p:nvGrpSpPr>
            <p:cNvPr id="16" name="组合 15"/>
            <p:cNvGrpSpPr/>
            <p:nvPr/>
          </p:nvGrpSpPr>
          <p:grpSpPr>
            <a:xfrm>
              <a:off x="1538" y="1569"/>
              <a:ext cx="5420" cy="7662"/>
              <a:chOff x="1348" y="3123"/>
              <a:chExt cx="5420" cy="7662"/>
            </a:xfrm>
          </p:grpSpPr>
          <p:sp>
            <p:nvSpPr>
              <p:cNvPr id="13" name="矩形: 圆角 49"/>
              <p:cNvSpPr/>
              <p:nvPr/>
            </p:nvSpPr>
            <p:spPr>
              <a:xfrm>
                <a:off x="1348" y="3123"/>
                <a:ext cx="5420" cy="7662"/>
              </a:xfrm>
              <a:prstGeom prst="roundRect">
                <a:avLst>
                  <a:gd name="adj" fmla="val 6013"/>
                </a:avLst>
              </a:prstGeom>
              <a:gradFill flip="none" rotWithShape="1">
                <a:gsLst>
                  <a:gs pos="0">
                    <a:schemeClr val="accent1"/>
                  </a:gs>
                  <a:gs pos="81000">
                    <a:schemeClr val="accent2"/>
                  </a:gs>
                  <a:gs pos="100000">
                    <a:schemeClr val="accent2">
                      <a:lumMod val="50000"/>
                      <a:lumOff val="5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flat">
                <a:noFill/>
                <a:prstDash val="solid"/>
                <a:miter/>
              </a:ln>
              <a:effectLst>
                <a:reflection blurRad="139700" stA="52000" endA="300" endPos="10000" dir="5400000" sy="-100000" algn="bl" rotWithShape="0"/>
              </a:effectLst>
            </p:spPr>
            <p:txBody>
              <a:bodyPr rtlCol="0" anchor="ctr"/>
              <a:lstStyle/>
              <a:p>
                <a:pPr algn="ctr"/>
                <a:r>
                  <a:rPr lang="zh-CN" altLang="en-US" sz="800" dirty="0">
                    <a:solidFill>
                      <a:schemeClr val="lt1">
                        <a:alpha val="0"/>
                      </a:schemeClr>
                    </a:solidFill>
                  </a:rPr>
                  <a:t>方能演亦</a:t>
                </a:r>
                <a:endParaRPr lang="zh-CN" altLang="en-US" sz="800" dirty="0">
                  <a:solidFill>
                    <a:schemeClr val="lt1">
                      <a:alpha val="0"/>
                    </a:schemeClr>
                  </a:solidFill>
                </a:endParaRPr>
              </a:p>
            </p:txBody>
          </p:sp>
          <p:sp>
            <p:nvSpPr>
              <p:cNvPr id="7" name="矩形: 圆角 50"/>
              <p:cNvSpPr/>
              <p:nvPr/>
            </p:nvSpPr>
            <p:spPr>
              <a:xfrm>
                <a:off x="1348" y="4090"/>
                <a:ext cx="5420" cy="6187"/>
              </a:xfrm>
              <a:prstGeom prst="roundRect">
                <a:avLst>
                  <a:gd name="adj" fmla="val 6418"/>
                </a:avLst>
              </a:prstGeom>
              <a:gradFill flip="none" rotWithShape="1">
                <a:gsLst>
                  <a:gs pos="100000">
                    <a:schemeClr val="bg1">
                      <a:alpha val="88000"/>
                    </a:schemeClr>
                  </a:gs>
                  <a:gs pos="72000">
                    <a:schemeClr val="bg1">
                      <a:alpha val="87000"/>
                    </a:schemeClr>
                  </a:gs>
                  <a:gs pos="14000">
                    <a:schemeClr val="bg1">
                      <a:alpha val="95000"/>
                    </a:schemeClr>
                  </a:gs>
                </a:gsLst>
                <a:lin ang="2700000" scaled="1"/>
                <a:tileRect/>
              </a:gradFill>
              <a:ln w="9525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800" dirty="0">
                    <a:solidFill>
                      <a:schemeClr val="lt1">
                        <a:alpha val="0"/>
                      </a:schemeClr>
                    </a:solidFill>
                  </a:rPr>
                  <a:t>方能演亦</a:t>
                </a:r>
                <a:endParaRPr lang="zh-CN" altLang="en-US" sz="800" dirty="0">
                  <a:solidFill>
                    <a:schemeClr val="lt1">
                      <a:alpha val="0"/>
                    </a:schemeClr>
                  </a:solidFill>
                </a:endParaRPr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3786" y="3300"/>
                <a:ext cx="488" cy="5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endParaRPr lang="zh-CN" altLang="en-US" sz="1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1729" y="4707"/>
                <a:ext cx="4481" cy="14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00000"/>
                  </a:lnSpc>
                  <a:buClrTx/>
                  <a:buSzTx/>
                  <a:buFontTx/>
                </a:pPr>
                <a:r>
                  <a:rPr lang="zh-CN" altLang="en-US" sz="1800">
                    <a:sym typeface="+mn-ea"/>
                  </a:rPr>
                  <a:t>工具链：</a:t>
                </a:r>
                <a:r>
                  <a:rPr lang="en-US" altLang="zh-CN" sz="1800">
                    <a:sym typeface="+mn-ea"/>
                  </a:rPr>
                  <a:t>aadl2c.py </a:t>
                </a:r>
                <a:r>
                  <a:rPr lang="zh-CN" altLang="en-US" sz="1800">
                    <a:sym typeface="+mn-ea"/>
                  </a:rPr>
                  <a:t>实现 </a:t>
                </a:r>
                <a:r>
                  <a:rPr lang="en-US" altLang="zh-CN" sz="1800">
                    <a:sym typeface="+mn-ea"/>
                  </a:rPr>
                  <a:t>AADL → JSON </a:t>
                </a:r>
                <a:r>
                  <a:rPr lang="zh-CN" altLang="en-US" sz="1800">
                    <a:sym typeface="+mn-ea"/>
                  </a:rPr>
                  <a:t>规格自动提取</a:t>
                </a:r>
                <a:endParaRPr lang="en-US" altLang="zh-CN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1702" y="6583"/>
                <a:ext cx="4818" cy="14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00000"/>
                  </a:lnSpc>
                  <a:buClrTx/>
                  <a:buSzTx/>
                  <a:buFontTx/>
                </a:pPr>
                <a:r>
                  <a:rPr lang="zh-CN" altLang="en-US" sz="1800">
                    <a:sym typeface="+mn-ea"/>
                  </a:rPr>
                  <a:t>对比实验：系统比较四种提示词策略在 </a:t>
                </a:r>
                <a:r>
                  <a:rPr lang="en-US" altLang="zh-CN" sz="1800">
                    <a:sym typeface="+mn-ea"/>
                  </a:rPr>
                  <a:t>IMA </a:t>
                </a:r>
                <a:r>
                  <a:rPr lang="zh-CN" altLang="en-US" sz="1800">
                    <a:sym typeface="+mn-ea"/>
                  </a:rPr>
                  <a:t>代码生成中的表现</a:t>
                </a:r>
                <a:endParaRPr lang="en-US" altLang="zh-CN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1729" y="8322"/>
                <a:ext cx="4367" cy="10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00000"/>
                  </a:lnSpc>
                  <a:buClrTx/>
                  <a:buSzTx/>
                  <a:buFontTx/>
                </a:pPr>
                <a:r>
                  <a:rPr lang="zh-CN" altLang="en-US" sz="1800">
                    <a:sym typeface="+mn-ea"/>
                  </a:rPr>
                  <a:t>评估体系：三维评分</a:t>
                </a:r>
                <a:r>
                  <a:rPr lang="en-US" altLang="zh-CN" sz="1800">
                    <a:sym typeface="+mn-ea"/>
                  </a:rPr>
                  <a:t>+ ARINC 653 </a:t>
                </a:r>
                <a:r>
                  <a:rPr lang="zh-CN" altLang="en-US" sz="1800">
                    <a:sym typeface="+mn-ea"/>
                  </a:rPr>
                  <a:t>合规检查</a:t>
                </a:r>
                <a:endParaRPr lang="en-US" altLang="zh-CN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6" name="文本框 25"/>
            <p:cNvSpPr txBox="1"/>
            <p:nvPr/>
          </p:nvSpPr>
          <p:spPr>
            <a:xfrm>
              <a:off x="2780" y="1725"/>
              <a:ext cx="3041" cy="580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ctr">
                <a:buClrTx/>
                <a:buSzTx/>
                <a:buFontTx/>
              </a:pPr>
              <a:r>
                <a:rPr lang="en-US" altLang="zh-CN" sz="18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主要贡献</a:t>
              </a:r>
              <a:endParaRPr lang="en-US" altLang="zh-CN" sz="1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994785" y="1011555"/>
            <a:ext cx="3719830" cy="4865370"/>
            <a:chOff x="7428" y="1650"/>
            <a:chExt cx="10532" cy="7662"/>
          </a:xfrm>
        </p:grpSpPr>
        <p:grpSp>
          <p:nvGrpSpPr>
            <p:cNvPr id="14" name="组合 13"/>
            <p:cNvGrpSpPr/>
            <p:nvPr/>
          </p:nvGrpSpPr>
          <p:grpSpPr>
            <a:xfrm>
              <a:off x="7428" y="1650"/>
              <a:ext cx="10532" cy="7662"/>
              <a:chOff x="1536" y="3123"/>
              <a:chExt cx="5232" cy="7662"/>
            </a:xfrm>
          </p:grpSpPr>
          <p:sp>
            <p:nvSpPr>
              <p:cNvPr id="17" name="矩形: 圆角 49"/>
              <p:cNvSpPr/>
              <p:nvPr/>
            </p:nvSpPr>
            <p:spPr>
              <a:xfrm>
                <a:off x="1536" y="3123"/>
                <a:ext cx="5232" cy="7662"/>
              </a:xfrm>
              <a:prstGeom prst="roundRect">
                <a:avLst>
                  <a:gd name="adj" fmla="val 6013"/>
                </a:avLst>
              </a:prstGeom>
              <a:gradFill flip="none" rotWithShape="1">
                <a:gsLst>
                  <a:gs pos="0">
                    <a:schemeClr val="accent1"/>
                  </a:gs>
                  <a:gs pos="81000">
                    <a:schemeClr val="accent2"/>
                  </a:gs>
                  <a:gs pos="100000">
                    <a:schemeClr val="accent2">
                      <a:lumMod val="50000"/>
                      <a:lumOff val="5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flat">
                <a:noFill/>
                <a:prstDash val="solid"/>
                <a:miter/>
              </a:ln>
              <a:effectLst>
                <a:reflection blurRad="139700" stA="52000" endA="300" endPos="10000" dir="5400000" sy="-100000" algn="bl" rotWithShape="0"/>
              </a:effectLst>
            </p:spPr>
            <p:txBody>
              <a:bodyPr rtlCol="0" anchor="ctr"/>
              <a:lstStyle/>
              <a:p>
                <a:pPr algn="ctr"/>
                <a:r>
                  <a:rPr lang="zh-CN" altLang="en-US" sz="800" dirty="0">
                    <a:solidFill>
                      <a:schemeClr val="lt1">
                        <a:alpha val="0"/>
                      </a:schemeClr>
                    </a:solidFill>
                  </a:rPr>
                  <a:t>方能演亦</a:t>
                </a:r>
                <a:endParaRPr lang="zh-CN" altLang="en-US" sz="800" dirty="0">
                  <a:solidFill>
                    <a:schemeClr val="lt1">
                      <a:alpha val="0"/>
                    </a:schemeClr>
                  </a:solidFill>
                </a:endParaRPr>
              </a:p>
            </p:txBody>
          </p:sp>
          <p:sp>
            <p:nvSpPr>
              <p:cNvPr id="18" name="矩形: 圆角 50"/>
              <p:cNvSpPr/>
              <p:nvPr/>
            </p:nvSpPr>
            <p:spPr>
              <a:xfrm>
                <a:off x="1537" y="4090"/>
                <a:ext cx="5231" cy="6187"/>
              </a:xfrm>
              <a:prstGeom prst="roundRect">
                <a:avLst>
                  <a:gd name="adj" fmla="val 6418"/>
                </a:avLst>
              </a:prstGeom>
              <a:gradFill flip="none" rotWithShape="1">
                <a:gsLst>
                  <a:gs pos="100000">
                    <a:schemeClr val="bg1">
                      <a:alpha val="88000"/>
                    </a:schemeClr>
                  </a:gs>
                  <a:gs pos="72000">
                    <a:schemeClr val="bg1">
                      <a:alpha val="87000"/>
                    </a:schemeClr>
                  </a:gs>
                  <a:gs pos="14000">
                    <a:schemeClr val="bg1">
                      <a:alpha val="95000"/>
                    </a:schemeClr>
                  </a:gs>
                </a:gsLst>
                <a:lin ang="2700000" scaled="1"/>
                <a:tileRect/>
              </a:gradFill>
              <a:ln w="9525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800" dirty="0">
                    <a:solidFill>
                      <a:schemeClr val="lt1">
                        <a:alpha val="0"/>
                      </a:schemeClr>
                    </a:solidFill>
                  </a:rPr>
                  <a:t>方能演亦</a:t>
                </a:r>
                <a:endParaRPr lang="zh-CN" altLang="en-US" sz="800" dirty="0">
                  <a:solidFill>
                    <a:schemeClr val="lt1">
                      <a:alpha val="0"/>
                    </a:schemeClr>
                  </a:solidFill>
                </a:endParaRPr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2196" y="3300"/>
                <a:ext cx="3668" cy="5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800" b="1" dirty="0">
                    <a:solidFill>
                      <a:schemeClr val="bg1"/>
                    </a:solidFill>
                  </a:rPr>
                  <a:t>结论</a:t>
                </a:r>
                <a:endParaRPr lang="zh-CN" altLang="en-US" sz="1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7" name="文本框 26"/>
            <p:cNvSpPr txBox="1"/>
            <p:nvPr/>
          </p:nvSpPr>
          <p:spPr>
            <a:xfrm>
              <a:off x="8544" y="3132"/>
              <a:ext cx="8177" cy="1232"/>
            </a:xfrm>
            <a:prstGeom prst="rect">
              <a:avLst/>
            </a:prstGeom>
          </p:spPr>
          <p:txBody>
            <a:bodyPr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zh-CN" altLang="en-US" sz="1800">
                  <a:sym typeface="+mn-ea"/>
                </a:rPr>
                <a:t>少样本/组合策略综合得分达 100分，合规率最高 93.5%</a:t>
              </a:r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8544" y="5086"/>
              <a:ext cx="8887" cy="101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en-US" altLang="zh-CN" sz="1800">
                  <a:sym typeface="+mn-ea"/>
                </a:rPr>
                <a:t>LLM </a:t>
              </a:r>
              <a:r>
                <a:rPr lang="zh-CN" altLang="en-US" sz="1800">
                  <a:sym typeface="+mn-ea"/>
                </a:rPr>
                <a:t>能够生成质量接近手工编写的 </a:t>
              </a:r>
              <a:r>
                <a:rPr lang="en-US" altLang="zh-CN" sz="1800">
                  <a:sym typeface="+mn-ea"/>
                </a:rPr>
                <a:t>ARINC 653 </a:t>
              </a:r>
              <a:r>
                <a:rPr lang="zh-CN" altLang="en-US" sz="1800">
                  <a:sym typeface="+mn-ea"/>
                </a:rPr>
                <a:t>分区代码</a:t>
              </a:r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8544" y="6824"/>
              <a:ext cx="7747" cy="1452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en-US" altLang="zh-CN" sz="1800">
                  <a:sym typeface="+mn-ea"/>
                </a:rPr>
                <a:t>CoT </a:t>
              </a:r>
              <a:r>
                <a:rPr lang="zh-CN" altLang="en-US" sz="1800">
                  <a:sym typeface="+mn-ea"/>
                </a:rPr>
                <a:t>策略存在"过度生成"问题，需要严格约束输出格式</a:t>
              </a:r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8058785" y="1026160"/>
            <a:ext cx="3719830" cy="4865370"/>
            <a:chOff x="7428" y="1650"/>
            <a:chExt cx="10532" cy="7662"/>
          </a:xfrm>
        </p:grpSpPr>
        <p:grpSp>
          <p:nvGrpSpPr>
            <p:cNvPr id="20" name="组合 19"/>
            <p:cNvGrpSpPr/>
            <p:nvPr/>
          </p:nvGrpSpPr>
          <p:grpSpPr>
            <a:xfrm>
              <a:off x="7428" y="1650"/>
              <a:ext cx="10532" cy="7662"/>
              <a:chOff x="1536" y="3123"/>
              <a:chExt cx="5232" cy="7662"/>
            </a:xfrm>
          </p:grpSpPr>
          <p:sp>
            <p:nvSpPr>
              <p:cNvPr id="21" name="矩形: 圆角 49"/>
              <p:cNvSpPr/>
              <p:nvPr/>
            </p:nvSpPr>
            <p:spPr>
              <a:xfrm>
                <a:off x="1536" y="3123"/>
                <a:ext cx="5232" cy="7662"/>
              </a:xfrm>
              <a:prstGeom prst="roundRect">
                <a:avLst>
                  <a:gd name="adj" fmla="val 6013"/>
                </a:avLst>
              </a:prstGeom>
              <a:gradFill flip="none" rotWithShape="1">
                <a:gsLst>
                  <a:gs pos="0">
                    <a:schemeClr val="accent1"/>
                  </a:gs>
                  <a:gs pos="81000">
                    <a:schemeClr val="accent2"/>
                  </a:gs>
                  <a:gs pos="100000">
                    <a:schemeClr val="accent2">
                      <a:lumMod val="50000"/>
                      <a:lumOff val="5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flat">
                <a:noFill/>
                <a:prstDash val="solid"/>
                <a:miter/>
              </a:ln>
              <a:effectLst>
                <a:reflection blurRad="139700" stA="52000" endA="300" endPos="10000" dir="5400000" sy="-100000" algn="bl" rotWithShape="0"/>
              </a:effectLst>
            </p:spPr>
            <p:txBody>
              <a:bodyPr rtlCol="0" anchor="ctr"/>
              <a:lstStyle/>
              <a:p>
                <a:pPr algn="ctr"/>
                <a:r>
                  <a:rPr lang="zh-CN" altLang="en-US" sz="800" dirty="0">
                    <a:solidFill>
                      <a:schemeClr val="lt1">
                        <a:alpha val="0"/>
                      </a:schemeClr>
                    </a:solidFill>
                  </a:rPr>
                  <a:t>方能演亦</a:t>
                </a:r>
                <a:endParaRPr lang="zh-CN" altLang="en-US" sz="800" dirty="0">
                  <a:solidFill>
                    <a:schemeClr val="lt1">
                      <a:alpha val="0"/>
                    </a:schemeClr>
                  </a:solidFill>
                </a:endParaRPr>
              </a:p>
            </p:txBody>
          </p:sp>
          <p:sp>
            <p:nvSpPr>
              <p:cNvPr id="22" name="矩形: 圆角 50"/>
              <p:cNvSpPr/>
              <p:nvPr/>
            </p:nvSpPr>
            <p:spPr>
              <a:xfrm>
                <a:off x="1537" y="4090"/>
                <a:ext cx="5231" cy="6187"/>
              </a:xfrm>
              <a:prstGeom prst="roundRect">
                <a:avLst>
                  <a:gd name="adj" fmla="val 6418"/>
                </a:avLst>
              </a:prstGeom>
              <a:gradFill flip="none" rotWithShape="1">
                <a:gsLst>
                  <a:gs pos="100000">
                    <a:schemeClr val="bg1">
                      <a:alpha val="88000"/>
                    </a:schemeClr>
                  </a:gs>
                  <a:gs pos="72000">
                    <a:schemeClr val="bg1">
                      <a:alpha val="87000"/>
                    </a:schemeClr>
                  </a:gs>
                  <a:gs pos="14000">
                    <a:schemeClr val="bg1">
                      <a:alpha val="95000"/>
                    </a:schemeClr>
                  </a:gs>
                </a:gsLst>
                <a:lin ang="2700000" scaled="1"/>
                <a:tileRect/>
              </a:gradFill>
              <a:ln w="9525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800" dirty="0">
                    <a:solidFill>
                      <a:schemeClr val="lt1">
                        <a:alpha val="0"/>
                      </a:schemeClr>
                    </a:solidFill>
                  </a:rPr>
                  <a:t>方能演亦</a:t>
                </a:r>
                <a:endParaRPr lang="zh-CN" altLang="en-US" sz="800" dirty="0">
                  <a:solidFill>
                    <a:schemeClr val="lt1">
                      <a:alpha val="0"/>
                    </a:schemeClr>
                  </a:solidFill>
                </a:endParaRPr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2196" y="3300"/>
                <a:ext cx="3668" cy="5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800" b="1" dirty="0">
                    <a:solidFill>
                      <a:schemeClr val="bg1"/>
                    </a:solidFill>
                  </a:rPr>
                  <a:t>未来</a:t>
                </a:r>
                <a:r>
                  <a:rPr lang="zh-CN" altLang="en-US" sz="1800" b="1" dirty="0">
                    <a:solidFill>
                      <a:schemeClr val="bg1"/>
                    </a:solidFill>
                  </a:rPr>
                  <a:t>展望</a:t>
                </a:r>
                <a:endParaRPr lang="zh-CN" altLang="en-US" sz="1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4" name="文本框 23"/>
            <p:cNvSpPr txBox="1"/>
            <p:nvPr/>
          </p:nvSpPr>
          <p:spPr>
            <a:xfrm>
              <a:off x="8544" y="3132"/>
              <a:ext cx="8177" cy="1116"/>
            </a:xfrm>
            <a:prstGeom prst="rect">
              <a:avLst/>
            </a:prstGeom>
          </p:spPr>
          <p:txBody>
            <a:bodyPr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zh-CN" altLang="en-US" sz="1800">
                  <a:sym typeface="+mn-ea"/>
                </a:rPr>
                <a:t>扩展到更多 </a:t>
              </a:r>
              <a:r>
                <a:rPr lang="en-US" altLang="zh-CN" sz="1800">
                  <a:sym typeface="+mn-ea"/>
                </a:rPr>
                <a:t>IMA </a:t>
              </a:r>
              <a:r>
                <a:rPr lang="zh-CN" altLang="en-US" sz="1800">
                  <a:sym typeface="+mn-ea"/>
                </a:rPr>
                <a:t>系统和 </a:t>
              </a:r>
              <a:r>
                <a:rPr lang="en-US" altLang="zh-CN" sz="1800">
                  <a:sym typeface="+mn-ea"/>
                </a:rPr>
                <a:t>RTOS </a:t>
              </a:r>
              <a:r>
                <a:rPr lang="zh-CN" altLang="en-US" sz="1800">
                  <a:sym typeface="+mn-ea"/>
                </a:rPr>
                <a:t>平台</a:t>
              </a:r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8544" y="5235"/>
              <a:ext cx="8887" cy="580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zh-CN" altLang="en-US" sz="1800">
                  <a:sym typeface="+mn-ea"/>
                </a:rPr>
                <a:t>引入运行时仿真验证</a:t>
              </a:r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8544" y="6802"/>
              <a:ext cx="7747" cy="101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zh-CN" altLang="en-US" sz="1800">
                  <a:sym typeface="+mn-ea"/>
                </a:rPr>
                <a:t>探索 </a:t>
              </a:r>
              <a:r>
                <a:rPr lang="en-US" altLang="zh-CN" sz="1800">
                  <a:sym typeface="+mn-ea"/>
                </a:rPr>
                <a:t>Fine-tuning </a:t>
              </a:r>
              <a:r>
                <a:rPr lang="zh-CN" altLang="en-US" sz="1800">
                  <a:sym typeface="+mn-ea"/>
                </a:rPr>
                <a:t>替代提示词工程</a:t>
              </a:r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椭圆 7"/>
          <p:cNvSpPr/>
          <p:nvPr/>
        </p:nvSpPr>
        <p:spPr>
          <a:xfrm>
            <a:off x="2341944" y="-325056"/>
            <a:ext cx="7508112" cy="7508112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28000"/>
                </a:schemeClr>
              </a:gs>
              <a:gs pos="6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7" name="椭圆 6"/>
          <p:cNvSpPr/>
          <p:nvPr/>
        </p:nvSpPr>
        <p:spPr>
          <a:xfrm>
            <a:off x="2920678" y="253678"/>
            <a:ext cx="6350644" cy="6350644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46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6" name="椭圆 5"/>
          <p:cNvSpPr/>
          <p:nvPr/>
        </p:nvSpPr>
        <p:spPr>
          <a:xfrm>
            <a:off x="3440904" y="773904"/>
            <a:ext cx="5308922" cy="5308922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72000"/>
                </a:schemeClr>
              </a:gs>
              <a:gs pos="63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4" name="椭圆 3"/>
          <p:cNvSpPr/>
          <p:nvPr/>
        </p:nvSpPr>
        <p:spPr>
          <a:xfrm>
            <a:off x="3962400" y="1295400"/>
            <a:ext cx="4267200" cy="4267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30725" name="文本框 10"/>
          <p:cNvSpPr txBox="1"/>
          <p:nvPr/>
        </p:nvSpPr>
        <p:spPr>
          <a:xfrm>
            <a:off x="4100513" y="3013075"/>
            <a:ext cx="3990975" cy="70643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zh-CN" altLang="en-US" sz="40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请老师批评指正</a:t>
            </a:r>
            <a:endParaRPr lang="zh-CN" altLang="en-US" sz="40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0726" name="组合 19"/>
          <p:cNvGrpSpPr/>
          <p:nvPr/>
        </p:nvGrpSpPr>
        <p:grpSpPr>
          <a:xfrm>
            <a:off x="5233988" y="2886075"/>
            <a:ext cx="1724025" cy="0"/>
            <a:chOff x="6585058" y="2318898"/>
            <a:chExt cx="1725168" cy="0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6585058" y="2318898"/>
              <a:ext cx="1725168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7278478" y="2318898"/>
              <a:ext cx="338328" cy="0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#wm#"/>
  <p:tag name="KSO_WM_TEMPLATE_CATEGORY" val="diagram"/>
  <p:tag name="KSO_WM_TEMPLATE_INDEX" val="20231062"/>
  <p:tag name="KSO_WM_SPECIAL_SOURCE" val="bdnull"/>
  <p:tag name="KSO_WM_SLIDE_ID" val="diagram20231062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DIAGRAM_GROUP_CODE" val="o1-1"/>
  <p:tag name="KSO_WM_SLIDE_DIAGTYPE" val="o"/>
  <p:tag name="KSO_WM_TAG_VERSION" val="3.0"/>
  <p:tag name="KSO_WM_SLIDE_LAYOUT" val="a_o"/>
  <p:tag name="KSO_WM_SLIDE_LAYOUT_CNT" val="1_1"/>
  <p:tag name="KSO_WM_SLIDE_TYPE" val="text"/>
  <p:tag name="KSO_WM_SLIDE_SUBTYPE" val="diag"/>
  <p:tag name="KSO_WM_SLIDE_SIZE" val="691.2*260.9"/>
  <p:tag name="KSO_WM_SLIDE_POSITION" val="136.1*165.2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#wm#"/>
  <p:tag name="KSO_WM_TEMPLATE_CATEGORY" val="diagram"/>
  <p:tag name="KSO_WM_TEMPLATE_INDEX" val="20231062"/>
  <p:tag name="KSO_WM_SPECIAL_SOURCE" val="bdnull"/>
  <p:tag name="KSO_WM_SLIDE_ID" val="diagram20231062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DIAGRAM_GROUP_CODE" val="o1-1"/>
  <p:tag name="KSO_WM_SLIDE_DIAGTYPE" val="o"/>
  <p:tag name="KSO_WM_TAG_VERSION" val="3.0"/>
  <p:tag name="KSO_WM_SLIDE_LAYOUT" val="a_o"/>
  <p:tag name="KSO_WM_SLIDE_LAYOUT_CNT" val="1_1"/>
  <p:tag name="KSO_WM_SLIDE_TYPE" val="text"/>
  <p:tag name="KSO_WM_SLIDE_SUBTYPE" val="diag"/>
  <p:tag name="KSO_WM_SLIDE_SIZE" val="691.2*260.9"/>
  <p:tag name="KSO_WM_SLIDE_POSITION" val="136.1*165.2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#wm#"/>
  <p:tag name="KSO_WM_TEMPLATE_CATEGORY" val="diagram"/>
  <p:tag name="KSO_WM_TEMPLATE_INDEX" val="20231062"/>
  <p:tag name="KSO_WM_SPECIAL_SOURCE" val="bdnull"/>
  <p:tag name="KSO_WM_SLIDE_ID" val="diagram20231062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DIAGRAM_GROUP_CODE" val="o1-1"/>
  <p:tag name="KSO_WM_SLIDE_DIAGTYPE" val="o"/>
  <p:tag name="KSO_WM_TAG_VERSION" val="3.0"/>
  <p:tag name="KSO_WM_SLIDE_LAYOUT" val="a_o"/>
  <p:tag name="KSO_WM_SLIDE_LAYOUT_CNT" val="1_1"/>
  <p:tag name="KSO_WM_SLIDE_TYPE" val="text"/>
  <p:tag name="KSO_WM_SLIDE_SUBTYPE" val="diag"/>
  <p:tag name="KSO_WM_SLIDE_SIZE" val="691.2*260.9"/>
  <p:tag name="KSO_WM_SLIDE_POSITION" val="136.1*165.2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#wm#"/>
  <p:tag name="KSO_WM_TEMPLATE_CATEGORY" val="diagram"/>
  <p:tag name="KSO_WM_TEMPLATE_INDEX" val="20231062"/>
  <p:tag name="KSO_WM_SPECIAL_SOURCE" val="bdnull"/>
  <p:tag name="KSO_WM_SLIDE_ID" val="diagram20231062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DIAGRAM_GROUP_CODE" val="o1-1"/>
  <p:tag name="KSO_WM_SLIDE_DIAGTYPE" val="o"/>
  <p:tag name="KSO_WM_TAG_VERSION" val="3.0"/>
  <p:tag name="KSO_WM_SLIDE_LAYOUT" val="a_o"/>
  <p:tag name="KSO_WM_SLIDE_LAYOUT_CNT" val="1_1"/>
  <p:tag name="KSO_WM_SLIDE_TYPE" val="text"/>
  <p:tag name="KSO_WM_SLIDE_SUBTYPE" val="diag"/>
  <p:tag name="KSO_WM_SLIDE_SIZE" val="691.2*260.9"/>
  <p:tag name="KSO_WM_SLIDE_POSITION" val="136.1*165.2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#wm#"/>
  <p:tag name="KSO_WM_TEMPLATE_CATEGORY" val="diagram"/>
  <p:tag name="KSO_WM_TEMPLATE_INDEX" val="20231062"/>
  <p:tag name="KSO_WM_SPECIAL_SOURCE" val="bdnull"/>
  <p:tag name="KSO_WM_SLIDE_ID" val="diagram20231062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DIAGRAM_GROUP_CODE" val="o1-1"/>
  <p:tag name="KSO_WM_SLIDE_DIAGTYPE" val="o"/>
  <p:tag name="KSO_WM_TAG_VERSION" val="3.0"/>
  <p:tag name="KSO_WM_SLIDE_LAYOUT" val="a_o"/>
  <p:tag name="KSO_WM_SLIDE_LAYOUT_CNT" val="1_1"/>
  <p:tag name="KSO_WM_SLIDE_TYPE" val="text"/>
  <p:tag name="KSO_WM_SLIDE_SUBTYPE" val="diag"/>
  <p:tag name="KSO_WM_SLIDE_SIZE" val="691.2*260.9"/>
  <p:tag name="KSO_WM_SLIDE_POSITION" val="136.1*165.2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#wm#"/>
  <p:tag name="KSO_WM_TEMPLATE_CATEGORY" val="diagram"/>
  <p:tag name="KSO_WM_TEMPLATE_INDEX" val="20231062"/>
  <p:tag name="KSO_WM_SPECIAL_SOURCE" val="bdnull"/>
  <p:tag name="KSO_WM_SLIDE_ID" val="diagram20231062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DIAGRAM_GROUP_CODE" val="o1-1"/>
  <p:tag name="KSO_WM_SLIDE_DIAGTYPE" val="o"/>
  <p:tag name="KSO_WM_TAG_VERSION" val="3.0"/>
  <p:tag name="KSO_WM_SLIDE_LAYOUT" val="a_o"/>
  <p:tag name="KSO_WM_SLIDE_LAYOUT_CNT" val="1_1"/>
  <p:tag name="KSO_WM_SLIDE_TYPE" val="text"/>
  <p:tag name="KSO_WM_SLIDE_SUBTYPE" val="diag"/>
  <p:tag name="KSO_WM_SLIDE_SIZE" val="691.2*260.9"/>
  <p:tag name="KSO_WM_SLIDE_POSITION" val="136.1*165.2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#wm#"/>
  <p:tag name="KSO_WM_TEMPLATE_CATEGORY" val="diagram"/>
  <p:tag name="KSO_WM_TEMPLATE_INDEX" val="20231062"/>
  <p:tag name="KSO_WM_SPECIAL_SOURCE" val="bdnull"/>
  <p:tag name="KSO_WM_SLIDE_ID" val="diagram20231062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DIAGRAM_GROUP_CODE" val="o1-1"/>
  <p:tag name="KSO_WM_SLIDE_DIAGTYPE" val="o"/>
  <p:tag name="KSO_WM_TAG_VERSION" val="3.0"/>
  <p:tag name="KSO_WM_SLIDE_LAYOUT" val="a_o"/>
  <p:tag name="KSO_WM_SLIDE_LAYOUT_CNT" val="1_1"/>
  <p:tag name="KSO_WM_SLIDE_TYPE" val="text"/>
  <p:tag name="KSO_WM_SLIDE_SUBTYPE" val="diag"/>
  <p:tag name="KSO_WM_SLIDE_SIZE" val="691.2*260.9"/>
  <p:tag name="KSO_WM_SLIDE_POSITION" val="136.1*165.2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TABLE_ENDDRAG_ORIGIN_RECT" val="430*199"/>
  <p:tag name="TABLE_ENDDRAG_RECT" val="494*103*430*199"/>
</p:tagLst>
</file>

<file path=ppt/tags/tag30.xml><?xml version="1.0" encoding="utf-8"?>
<p:tagLst xmlns:p="http://schemas.openxmlformats.org/presentationml/2006/main">
  <p:tag name="KSO_WM_BEAUTIFY_FLAG" val="#wm#"/>
  <p:tag name="KSO_WM_TEMPLATE_CATEGORY" val="diagram"/>
  <p:tag name="KSO_WM_TEMPLATE_INDEX" val="20231062"/>
  <p:tag name="KSO_WM_SPECIAL_SOURCE" val="bdnull"/>
  <p:tag name="KSO_WM_SLIDE_ID" val="diagram20231062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DIAGRAM_GROUP_CODE" val="o1-1"/>
  <p:tag name="KSO_WM_SLIDE_DIAGTYPE" val="o"/>
  <p:tag name="KSO_WM_TAG_VERSION" val="3.0"/>
  <p:tag name="KSO_WM_SLIDE_LAYOUT" val="a_o"/>
  <p:tag name="KSO_WM_SLIDE_LAYOUT_CNT" val="1_1"/>
  <p:tag name="KSO_WM_SLIDE_TYPE" val="text"/>
  <p:tag name="KSO_WM_SLIDE_SUBTYPE" val="diag"/>
  <p:tag name="KSO_WM_SLIDE_SIZE" val="691.2*260.9"/>
  <p:tag name="KSO_WM_SLIDE_POSITION" val="136.1*165.2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#wm#"/>
  <p:tag name="KSO_WM_TEMPLATE_CATEGORY" val="diagram"/>
  <p:tag name="KSO_WM_TEMPLATE_INDEX" val="20231062"/>
  <p:tag name="KSO_WM_SPECIAL_SOURCE" val="bdnull"/>
  <p:tag name="KSO_WM_SLIDE_ID" val="diagram20231062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DIAGRAM_GROUP_CODE" val="o1-1"/>
  <p:tag name="KSO_WM_SLIDE_DIAGTYPE" val="o"/>
  <p:tag name="KSO_WM_TAG_VERSION" val="3.0"/>
  <p:tag name="KSO_WM_SLIDE_LAYOUT" val="a_o"/>
  <p:tag name="KSO_WM_SLIDE_LAYOUT_CNT" val="1_1"/>
  <p:tag name="KSO_WM_SLIDE_TYPE" val="text"/>
  <p:tag name="KSO_WM_SLIDE_SUBTYPE" val="diag"/>
  <p:tag name="KSO_WM_SLIDE_SIZE" val="691.2*260.9"/>
  <p:tag name="KSO_WM_SLIDE_POSITION" val="136.1*165.2"/>
</p:tagLst>
</file>

<file path=ppt/theme/theme1.xml><?xml version="1.0" encoding="utf-8"?>
<a:theme xmlns:a="http://schemas.openxmlformats.org/drawingml/2006/main" name="WPS">
  <a:themeElements>
    <a:clrScheme name="自定义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7B9CFE"/>
      </a:accent1>
      <a:accent2>
        <a:srgbClr val="2834A4"/>
      </a:accent2>
      <a:accent3>
        <a:srgbClr val="2C3AB4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自定义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7B9CFE"/>
      </a:accent1>
      <a:accent2>
        <a:srgbClr val="2834A4"/>
      </a:accent2>
      <a:accent3>
        <a:srgbClr val="2C3AB4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1697</Words>
  <Application>WPS 演示</Application>
  <PresentationFormat>宽屏</PresentationFormat>
  <Paragraphs>287</Paragraphs>
  <Slides>11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Wingdings</vt:lpstr>
      <vt:lpstr>Calibri</vt:lpstr>
      <vt:lpstr>Helvetica</vt:lpstr>
      <vt:lpstr>优设标题黑</vt:lpstr>
      <vt:lpstr>黑体</vt:lpstr>
      <vt:lpstr>Arial Unicode MS</vt:lpstr>
      <vt:lpstr>KSOFB4AB0A6B</vt:lpstr>
      <vt:lpstr>AMGDT</vt:lpstr>
      <vt:lpstr>WPS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唐澜宸</dc:creator>
  <cp:lastModifiedBy>贩卖棉花糖</cp:lastModifiedBy>
  <cp:revision>186</cp:revision>
  <dcterms:created xsi:type="dcterms:W3CDTF">2019-06-19T02:08:00Z</dcterms:created>
  <dcterms:modified xsi:type="dcterms:W3CDTF">2026-05-26T04:41:01Z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D7A108C765054DBE916581FC9C0804B1_12</vt:lpwstr>
  </property>
</Properties>
</file>